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ileron" charset="1" panose="00000500000000000000"/>
      <p:regular r:id="rId16"/>
    </p:embeddedFont>
    <p:embeddedFont>
      <p:font typeface="Pinyon Script" charset="1" panose="020105010801010D0002"/>
      <p:regular r:id="rId17"/>
    </p:embeddedFont>
    <p:embeddedFont>
      <p:font typeface="Aileron Heavy" charset="1" panose="00000A00000000000000"/>
      <p:regular r:id="rId18"/>
    </p:embeddedFont>
    <p:embeddedFont>
      <p:font typeface="Aileron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E25"/>
        </a:solidFill>
      </p:bgPr>
    </p:bg>
    <p:spTree>
      <p:nvGrpSpPr>
        <p:cNvPr id="1" name=""/>
        <p:cNvGrpSpPr/>
        <p:nvPr/>
      </p:nvGrpSpPr>
      <p:grpSpPr>
        <a:xfrm>
          <a:off x="0" y="0"/>
          <a:ext cx="0" cy="0"/>
          <a:chOff x="0" y="0"/>
          <a:chExt cx="0" cy="0"/>
        </a:xfrm>
      </p:grpSpPr>
      <p:sp>
        <p:nvSpPr>
          <p:cNvPr name="Freeform 2" id="2"/>
          <p:cNvSpPr/>
          <p:nvPr/>
        </p:nvSpPr>
        <p:spPr>
          <a:xfrm flipH="false" flipV="false" rot="0">
            <a:off x="0" y="-4046450"/>
            <a:ext cx="18288000" cy="18379899"/>
          </a:xfrm>
          <a:custGeom>
            <a:avLst/>
            <a:gdLst/>
            <a:ahLst/>
            <a:cxnLst/>
            <a:rect r="r" b="b" t="t" l="l"/>
            <a:pathLst>
              <a:path h="18379899" w="18288000">
                <a:moveTo>
                  <a:pt x="0" y="0"/>
                </a:moveTo>
                <a:lnTo>
                  <a:pt x="18288000" y="0"/>
                </a:lnTo>
                <a:lnTo>
                  <a:pt x="18288000" y="18379900"/>
                </a:lnTo>
                <a:lnTo>
                  <a:pt x="0" y="18379900"/>
                </a:lnTo>
                <a:lnTo>
                  <a:pt x="0" y="0"/>
                </a:lnTo>
                <a:close/>
              </a:path>
            </a:pathLst>
          </a:custGeom>
          <a:blipFill>
            <a:blip r:embed="rId2">
              <a:alphaModFix amt="4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834341"/>
            <a:ext cx="6116151" cy="423959"/>
          </a:xfrm>
          <a:prstGeom prst="rect">
            <a:avLst/>
          </a:prstGeom>
        </p:spPr>
        <p:txBody>
          <a:bodyPr anchor="t" rtlCol="false" tIns="0" lIns="0" bIns="0" rIns="0">
            <a:spAutoFit/>
          </a:bodyPr>
          <a:lstStyle/>
          <a:p>
            <a:pPr algn="l">
              <a:lnSpc>
                <a:spcPts val="3407"/>
              </a:lnSpc>
              <a:spcBef>
                <a:spcPct val="0"/>
              </a:spcBef>
            </a:pPr>
            <a:r>
              <a:rPr lang="en-US" sz="2433">
                <a:solidFill>
                  <a:srgbClr val="FFFDF8"/>
                </a:solidFill>
                <a:latin typeface="Aileron"/>
                <a:ea typeface="Aileron"/>
                <a:cs typeface="Aileron"/>
                <a:sym typeface="Aileron"/>
              </a:rPr>
              <a:t>TELKOM UNIVERSITY</a:t>
            </a:r>
          </a:p>
        </p:txBody>
      </p:sp>
      <p:sp>
        <p:nvSpPr>
          <p:cNvPr name="TextBox 4" id="4"/>
          <p:cNvSpPr txBox="true"/>
          <p:nvPr/>
        </p:nvSpPr>
        <p:spPr>
          <a:xfrm rot="0">
            <a:off x="15861262" y="8843866"/>
            <a:ext cx="1398038" cy="389255"/>
          </a:xfrm>
          <a:prstGeom prst="rect">
            <a:avLst/>
          </a:prstGeom>
        </p:spPr>
        <p:txBody>
          <a:bodyPr anchor="t" rtlCol="false" tIns="0" lIns="0" bIns="0" rIns="0">
            <a:spAutoFit/>
          </a:bodyPr>
          <a:lstStyle/>
          <a:p>
            <a:pPr algn="r">
              <a:lnSpc>
                <a:spcPts val="3220"/>
              </a:lnSpc>
              <a:spcBef>
                <a:spcPct val="0"/>
              </a:spcBef>
            </a:pPr>
            <a:r>
              <a:rPr lang="en-US" sz="2300">
                <a:solidFill>
                  <a:srgbClr val="FFFDF8"/>
                </a:solidFill>
                <a:latin typeface="Aileron"/>
                <a:ea typeface="Aileron"/>
                <a:cs typeface="Aileron"/>
                <a:sym typeface="Aileron"/>
              </a:rPr>
              <a:t>2026</a:t>
            </a:r>
          </a:p>
        </p:txBody>
      </p:sp>
      <p:sp>
        <p:nvSpPr>
          <p:cNvPr name="AutoShape 5" id="5"/>
          <p:cNvSpPr/>
          <p:nvPr/>
        </p:nvSpPr>
        <p:spPr>
          <a:xfrm>
            <a:off x="6020628" y="9074895"/>
            <a:ext cx="9845039" cy="4763"/>
          </a:xfrm>
          <a:prstGeom prst="line">
            <a:avLst/>
          </a:prstGeom>
          <a:ln cap="flat" w="9525">
            <a:solidFill>
              <a:srgbClr val="FFFFFF"/>
            </a:solidFill>
            <a:prstDash val="solid"/>
            <a:headEnd type="none" len="sm" w="sm"/>
            <a:tailEnd type="none" len="sm" w="sm"/>
          </a:ln>
        </p:spPr>
      </p:sp>
      <p:sp>
        <p:nvSpPr>
          <p:cNvPr name="TextBox 6" id="6"/>
          <p:cNvSpPr txBox="true"/>
          <p:nvPr/>
        </p:nvSpPr>
        <p:spPr>
          <a:xfrm rot="0">
            <a:off x="3330406" y="945358"/>
            <a:ext cx="11627189" cy="4353075"/>
          </a:xfrm>
          <a:prstGeom prst="rect">
            <a:avLst/>
          </a:prstGeom>
        </p:spPr>
        <p:txBody>
          <a:bodyPr anchor="t" rtlCol="false" tIns="0" lIns="0" bIns="0" rIns="0">
            <a:spAutoFit/>
          </a:bodyPr>
          <a:lstStyle/>
          <a:p>
            <a:pPr algn="ctr">
              <a:lnSpc>
                <a:spcPts val="35575"/>
              </a:lnSpc>
              <a:spcBef>
                <a:spcPct val="0"/>
              </a:spcBef>
            </a:pPr>
            <a:r>
              <a:rPr lang="en-US" sz="25410">
                <a:solidFill>
                  <a:srgbClr val="FFFDF8"/>
                </a:solidFill>
                <a:latin typeface="Pinyon Script"/>
                <a:ea typeface="Pinyon Script"/>
                <a:cs typeface="Pinyon Script"/>
                <a:sym typeface="Pinyon Script"/>
              </a:rPr>
              <a:t>Sistem</a:t>
            </a:r>
          </a:p>
        </p:txBody>
      </p:sp>
      <p:sp>
        <p:nvSpPr>
          <p:cNvPr name="Freeform 7" id="7"/>
          <p:cNvSpPr/>
          <p:nvPr/>
        </p:nvSpPr>
        <p:spPr>
          <a:xfrm flipH="false" flipV="false" rot="0">
            <a:off x="1946446" y="5462939"/>
            <a:ext cx="797851" cy="797851"/>
          </a:xfrm>
          <a:custGeom>
            <a:avLst/>
            <a:gdLst/>
            <a:ahLst/>
            <a:cxnLst/>
            <a:rect r="r" b="b" t="t" l="l"/>
            <a:pathLst>
              <a:path h="797851" w="797851">
                <a:moveTo>
                  <a:pt x="0" y="0"/>
                </a:moveTo>
                <a:lnTo>
                  <a:pt x="797851" y="0"/>
                </a:lnTo>
                <a:lnTo>
                  <a:pt x="797851" y="797851"/>
                </a:lnTo>
                <a:lnTo>
                  <a:pt x="0" y="797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981075"/>
            <a:ext cx="2633343" cy="389255"/>
          </a:xfrm>
          <a:prstGeom prst="rect">
            <a:avLst/>
          </a:prstGeom>
        </p:spPr>
        <p:txBody>
          <a:bodyPr anchor="t" rtlCol="false" tIns="0" lIns="0" bIns="0" rIns="0">
            <a:spAutoFit/>
          </a:bodyPr>
          <a:lstStyle/>
          <a:p>
            <a:pPr algn="l">
              <a:lnSpc>
                <a:spcPts val="3220"/>
              </a:lnSpc>
              <a:spcBef>
                <a:spcPct val="0"/>
              </a:spcBef>
            </a:pPr>
            <a:r>
              <a:rPr lang="en-US" sz="2300">
                <a:solidFill>
                  <a:srgbClr val="FFFDF8"/>
                </a:solidFill>
                <a:latin typeface="Aileron"/>
                <a:ea typeface="Aileron"/>
                <a:cs typeface="Aileron"/>
                <a:sym typeface="Aileron"/>
              </a:rPr>
              <a:t>PRESENTASI</a:t>
            </a:r>
          </a:p>
        </p:txBody>
      </p:sp>
      <p:sp>
        <p:nvSpPr>
          <p:cNvPr name="TextBox 9" id="9"/>
          <p:cNvSpPr txBox="true"/>
          <p:nvPr/>
        </p:nvSpPr>
        <p:spPr>
          <a:xfrm rot="0">
            <a:off x="13726638" y="981075"/>
            <a:ext cx="3532662" cy="389255"/>
          </a:xfrm>
          <a:prstGeom prst="rect">
            <a:avLst/>
          </a:prstGeom>
        </p:spPr>
        <p:txBody>
          <a:bodyPr anchor="t" rtlCol="false" tIns="0" lIns="0" bIns="0" rIns="0">
            <a:spAutoFit/>
          </a:bodyPr>
          <a:lstStyle/>
          <a:p>
            <a:pPr algn="r">
              <a:lnSpc>
                <a:spcPts val="3220"/>
              </a:lnSpc>
              <a:spcBef>
                <a:spcPct val="0"/>
              </a:spcBef>
            </a:pPr>
            <a:r>
              <a:rPr lang="en-US" sz="2300">
                <a:solidFill>
                  <a:srgbClr val="FFFDF8"/>
                </a:solidFill>
                <a:latin typeface="Aileron"/>
                <a:ea typeface="Aileron"/>
                <a:cs typeface="Aileron"/>
                <a:sym typeface="Aileron"/>
              </a:rPr>
              <a:t>KELOMPOK 8</a:t>
            </a:r>
          </a:p>
        </p:txBody>
      </p:sp>
      <p:sp>
        <p:nvSpPr>
          <p:cNvPr name="Freeform 10" id="10"/>
          <p:cNvSpPr/>
          <p:nvPr/>
        </p:nvSpPr>
        <p:spPr>
          <a:xfrm flipH="false" flipV="false" rot="0">
            <a:off x="15627225" y="5462939"/>
            <a:ext cx="797851" cy="797851"/>
          </a:xfrm>
          <a:custGeom>
            <a:avLst/>
            <a:gdLst/>
            <a:ahLst/>
            <a:cxnLst/>
            <a:rect r="r" b="b" t="t" l="l"/>
            <a:pathLst>
              <a:path h="797851" w="797851">
                <a:moveTo>
                  <a:pt x="0" y="0"/>
                </a:moveTo>
                <a:lnTo>
                  <a:pt x="797852" y="0"/>
                </a:lnTo>
                <a:lnTo>
                  <a:pt x="797852" y="797851"/>
                </a:lnTo>
                <a:lnTo>
                  <a:pt x="0" y="797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031927" y="3559527"/>
            <a:ext cx="13730503" cy="3425825"/>
          </a:xfrm>
          <a:prstGeom prst="rect">
            <a:avLst/>
          </a:prstGeom>
        </p:spPr>
        <p:txBody>
          <a:bodyPr anchor="t" rtlCol="false" tIns="0" lIns="0" bIns="0" rIns="0">
            <a:spAutoFit/>
          </a:bodyPr>
          <a:lstStyle/>
          <a:p>
            <a:pPr algn="ctr">
              <a:lnSpc>
                <a:spcPts val="28000"/>
              </a:lnSpc>
              <a:spcBef>
                <a:spcPct val="0"/>
              </a:spcBef>
            </a:pPr>
            <a:r>
              <a:rPr lang="en-US" sz="20000">
                <a:solidFill>
                  <a:srgbClr val="FFFDF8"/>
                </a:solidFill>
                <a:latin typeface="Aileron"/>
                <a:ea typeface="Aileron"/>
                <a:cs typeface="Aileron"/>
                <a:sym typeface="Aileron"/>
              </a:rPr>
              <a:t>TUGAS TIM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5400000">
            <a:off x="-5104062" y="5104062"/>
            <a:ext cx="10287000" cy="78875"/>
            <a:chOff x="0" y="0"/>
            <a:chExt cx="2709333" cy="20774"/>
          </a:xfrm>
        </p:grpSpPr>
        <p:sp>
          <p:nvSpPr>
            <p:cNvPr name="Freeform 3" id="3"/>
            <p:cNvSpPr/>
            <p:nvPr/>
          </p:nvSpPr>
          <p:spPr>
            <a:xfrm flipH="false" flipV="false" rot="0">
              <a:off x="0" y="0"/>
              <a:ext cx="2709333" cy="20774"/>
            </a:xfrm>
            <a:custGeom>
              <a:avLst/>
              <a:gdLst/>
              <a:ahLst/>
              <a:cxnLst/>
              <a:rect r="r" b="b" t="t" l="l"/>
              <a:pathLst>
                <a:path h="20774" w="2709333">
                  <a:moveTo>
                    <a:pt x="0" y="0"/>
                  </a:moveTo>
                  <a:lnTo>
                    <a:pt x="2709333" y="0"/>
                  </a:lnTo>
                  <a:lnTo>
                    <a:pt x="2709333" y="20774"/>
                  </a:lnTo>
                  <a:lnTo>
                    <a:pt x="0" y="20774"/>
                  </a:lnTo>
                  <a:close/>
                </a:path>
              </a:pathLst>
            </a:custGeom>
            <a:solidFill>
              <a:srgbClr val="052E25"/>
            </a:solidFill>
          </p:spPr>
        </p:sp>
        <p:sp>
          <p:nvSpPr>
            <p:cNvPr name="TextBox 4" id="4"/>
            <p:cNvSpPr txBox="true"/>
            <p:nvPr/>
          </p:nvSpPr>
          <p:spPr>
            <a:xfrm>
              <a:off x="0" y="-57150"/>
              <a:ext cx="2709333" cy="77924"/>
            </a:xfrm>
            <a:prstGeom prst="rect">
              <a:avLst/>
            </a:prstGeom>
          </p:spPr>
          <p:txBody>
            <a:bodyPr anchor="ctr" rtlCol="false" tIns="50800" lIns="50800" bIns="50800" rIns="50800"/>
            <a:lstStyle/>
            <a:p>
              <a:pPr algn="ctr">
                <a:lnSpc>
                  <a:spcPts val="3407"/>
                </a:lnSpc>
              </a:pPr>
            </a:p>
          </p:txBody>
        </p:sp>
      </p:grpSp>
      <p:grpSp>
        <p:nvGrpSpPr>
          <p:cNvPr name="Group 5" id="5"/>
          <p:cNvGrpSpPr/>
          <p:nvPr/>
        </p:nvGrpSpPr>
        <p:grpSpPr>
          <a:xfrm rot="5400000">
            <a:off x="13105062" y="5104062"/>
            <a:ext cx="10287000" cy="78875"/>
            <a:chOff x="0" y="0"/>
            <a:chExt cx="2709333" cy="20774"/>
          </a:xfrm>
        </p:grpSpPr>
        <p:sp>
          <p:nvSpPr>
            <p:cNvPr name="Freeform 6" id="6"/>
            <p:cNvSpPr/>
            <p:nvPr/>
          </p:nvSpPr>
          <p:spPr>
            <a:xfrm flipH="false" flipV="false" rot="0">
              <a:off x="0" y="0"/>
              <a:ext cx="2709333" cy="20774"/>
            </a:xfrm>
            <a:custGeom>
              <a:avLst/>
              <a:gdLst/>
              <a:ahLst/>
              <a:cxnLst/>
              <a:rect r="r" b="b" t="t" l="l"/>
              <a:pathLst>
                <a:path h="20774" w="2709333">
                  <a:moveTo>
                    <a:pt x="0" y="0"/>
                  </a:moveTo>
                  <a:lnTo>
                    <a:pt x="2709333" y="0"/>
                  </a:lnTo>
                  <a:lnTo>
                    <a:pt x="2709333" y="20774"/>
                  </a:lnTo>
                  <a:lnTo>
                    <a:pt x="0" y="20774"/>
                  </a:lnTo>
                  <a:close/>
                </a:path>
              </a:pathLst>
            </a:custGeom>
            <a:solidFill>
              <a:srgbClr val="052E25"/>
            </a:solidFill>
          </p:spPr>
        </p:sp>
        <p:sp>
          <p:nvSpPr>
            <p:cNvPr name="TextBox 7" id="7"/>
            <p:cNvSpPr txBox="true"/>
            <p:nvPr/>
          </p:nvSpPr>
          <p:spPr>
            <a:xfrm>
              <a:off x="0" y="-57150"/>
              <a:ext cx="2709333" cy="77924"/>
            </a:xfrm>
            <a:prstGeom prst="rect">
              <a:avLst/>
            </a:prstGeom>
          </p:spPr>
          <p:txBody>
            <a:bodyPr anchor="ctr" rtlCol="false" tIns="50800" lIns="50800" bIns="50800" rIns="50800"/>
            <a:lstStyle/>
            <a:p>
              <a:pPr algn="ctr">
                <a:lnSpc>
                  <a:spcPts val="3407"/>
                </a:lnSpc>
              </a:pPr>
            </a:p>
          </p:txBody>
        </p:sp>
      </p:grpSp>
      <p:sp>
        <p:nvSpPr>
          <p:cNvPr name="TextBox 8" id="8"/>
          <p:cNvSpPr txBox="true"/>
          <p:nvPr/>
        </p:nvSpPr>
        <p:spPr>
          <a:xfrm rot="0">
            <a:off x="1028700" y="1541558"/>
            <a:ext cx="15640725" cy="1302861"/>
          </a:xfrm>
          <a:prstGeom prst="rect">
            <a:avLst/>
          </a:prstGeom>
        </p:spPr>
        <p:txBody>
          <a:bodyPr anchor="t" rtlCol="false" tIns="0" lIns="0" bIns="0" rIns="0">
            <a:spAutoFit/>
          </a:bodyPr>
          <a:lstStyle/>
          <a:p>
            <a:pPr algn="l">
              <a:lnSpc>
                <a:spcPts val="9598"/>
              </a:lnSpc>
            </a:pPr>
            <a:r>
              <a:rPr lang="en-US" b="true" sz="10547" spc="-358">
                <a:solidFill>
                  <a:srgbClr val="031411"/>
                </a:solidFill>
                <a:latin typeface="Aileron Heavy"/>
                <a:ea typeface="Aileron Heavy"/>
                <a:cs typeface="Aileron Heavy"/>
                <a:sym typeface="Aileron Heavy"/>
              </a:rPr>
              <a:t>ANGGOTA KELOMPOK</a:t>
            </a:r>
          </a:p>
        </p:txBody>
      </p:sp>
      <p:sp>
        <p:nvSpPr>
          <p:cNvPr name="Freeform 9" id="9"/>
          <p:cNvSpPr/>
          <p:nvPr/>
        </p:nvSpPr>
        <p:spPr>
          <a:xfrm flipH="true" flipV="true" rot="-10800000">
            <a:off x="14358104" y="3677430"/>
            <a:ext cx="388842" cy="388842"/>
          </a:xfrm>
          <a:custGeom>
            <a:avLst/>
            <a:gdLst/>
            <a:ahLst/>
            <a:cxnLst/>
            <a:rect r="r" b="b" t="t" l="l"/>
            <a:pathLst>
              <a:path h="388842" w="388842">
                <a:moveTo>
                  <a:pt x="388841" y="388842"/>
                </a:moveTo>
                <a:lnTo>
                  <a:pt x="0" y="388842"/>
                </a:lnTo>
                <a:lnTo>
                  <a:pt x="0" y="0"/>
                </a:lnTo>
                <a:lnTo>
                  <a:pt x="388841" y="0"/>
                </a:lnTo>
                <a:lnTo>
                  <a:pt x="388841" y="3888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0" id="10"/>
          <p:cNvSpPr/>
          <p:nvPr/>
        </p:nvSpPr>
        <p:spPr>
          <a:xfrm>
            <a:off x="4907065" y="4429409"/>
            <a:ext cx="7883995" cy="0"/>
          </a:xfrm>
          <a:prstGeom prst="line">
            <a:avLst/>
          </a:prstGeom>
          <a:ln cap="flat" w="19050">
            <a:solidFill>
              <a:srgbClr val="000000"/>
            </a:solidFill>
            <a:prstDash val="solid"/>
            <a:headEnd type="none" len="sm" w="sm"/>
            <a:tailEnd type="none" len="sm" w="sm"/>
          </a:ln>
        </p:spPr>
      </p:sp>
      <p:sp>
        <p:nvSpPr>
          <p:cNvPr name="Freeform 11" id="11"/>
          <p:cNvSpPr/>
          <p:nvPr/>
        </p:nvSpPr>
        <p:spPr>
          <a:xfrm flipH="false" flipV="false" rot="0">
            <a:off x="15488113" y="1926271"/>
            <a:ext cx="652262" cy="652262"/>
          </a:xfrm>
          <a:custGeom>
            <a:avLst/>
            <a:gdLst/>
            <a:ahLst/>
            <a:cxnLst/>
            <a:rect r="r" b="b" t="t" l="l"/>
            <a:pathLst>
              <a:path h="652262" w="652262">
                <a:moveTo>
                  <a:pt x="0" y="0"/>
                </a:moveTo>
                <a:lnTo>
                  <a:pt x="652262" y="0"/>
                </a:lnTo>
                <a:lnTo>
                  <a:pt x="652262" y="652262"/>
                </a:lnTo>
                <a:lnTo>
                  <a:pt x="0" y="6522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5483224" y="3819355"/>
            <a:ext cx="6731677" cy="505279"/>
          </a:xfrm>
          <a:prstGeom prst="rect">
            <a:avLst/>
          </a:prstGeom>
        </p:spPr>
        <p:txBody>
          <a:bodyPr anchor="t" rtlCol="false" tIns="0" lIns="0" bIns="0" rIns="0">
            <a:spAutoFit/>
          </a:bodyPr>
          <a:lstStyle/>
          <a:p>
            <a:pPr algn="l">
              <a:lnSpc>
                <a:spcPts val="4033"/>
              </a:lnSpc>
              <a:spcBef>
                <a:spcPct val="0"/>
              </a:spcBef>
            </a:pPr>
            <a:r>
              <a:rPr lang="en-US" b="true" sz="2881">
                <a:solidFill>
                  <a:srgbClr val="031411"/>
                </a:solidFill>
                <a:latin typeface="Aileron Bold"/>
                <a:ea typeface="Aileron Bold"/>
                <a:cs typeface="Aileron Bold"/>
                <a:sym typeface="Aileron Bold"/>
              </a:rPr>
              <a:t>MOCH FIRMANSYAH || 103012400137</a:t>
            </a:r>
          </a:p>
        </p:txBody>
      </p:sp>
      <p:sp>
        <p:nvSpPr>
          <p:cNvPr name="TextBox 13" id="13"/>
          <p:cNvSpPr txBox="true"/>
          <p:nvPr/>
        </p:nvSpPr>
        <p:spPr>
          <a:xfrm rot="0">
            <a:off x="4770476" y="4897321"/>
            <a:ext cx="8157174" cy="505279"/>
          </a:xfrm>
          <a:prstGeom prst="rect">
            <a:avLst/>
          </a:prstGeom>
        </p:spPr>
        <p:txBody>
          <a:bodyPr anchor="t" rtlCol="false" tIns="0" lIns="0" bIns="0" rIns="0">
            <a:spAutoFit/>
          </a:bodyPr>
          <a:lstStyle/>
          <a:p>
            <a:pPr algn="l">
              <a:lnSpc>
                <a:spcPts val="4033"/>
              </a:lnSpc>
              <a:spcBef>
                <a:spcPct val="0"/>
              </a:spcBef>
            </a:pPr>
            <a:r>
              <a:rPr lang="en-US" b="true" sz="2881">
                <a:solidFill>
                  <a:srgbClr val="031411"/>
                </a:solidFill>
                <a:latin typeface="Aileron Bold"/>
                <a:ea typeface="Aileron Bold"/>
                <a:cs typeface="Aileron Bold"/>
                <a:sym typeface="Aileron Bold"/>
              </a:rPr>
              <a:t>LISTIANTO HILMI FAUZAAN || 103012400094</a:t>
            </a:r>
          </a:p>
        </p:txBody>
      </p:sp>
      <p:sp>
        <p:nvSpPr>
          <p:cNvPr name="TextBox 14" id="14"/>
          <p:cNvSpPr txBox="true"/>
          <p:nvPr/>
        </p:nvSpPr>
        <p:spPr>
          <a:xfrm rot="0">
            <a:off x="5483224" y="6088400"/>
            <a:ext cx="6731677" cy="505279"/>
          </a:xfrm>
          <a:prstGeom prst="rect">
            <a:avLst/>
          </a:prstGeom>
        </p:spPr>
        <p:txBody>
          <a:bodyPr anchor="t" rtlCol="false" tIns="0" lIns="0" bIns="0" rIns="0">
            <a:spAutoFit/>
          </a:bodyPr>
          <a:lstStyle/>
          <a:p>
            <a:pPr algn="l">
              <a:lnSpc>
                <a:spcPts val="4033"/>
              </a:lnSpc>
              <a:spcBef>
                <a:spcPct val="0"/>
              </a:spcBef>
            </a:pPr>
            <a:r>
              <a:rPr lang="en-US" b="true" sz="2881">
                <a:solidFill>
                  <a:srgbClr val="031411"/>
                </a:solidFill>
                <a:latin typeface="Aileron Bold"/>
                <a:ea typeface="Aileron Bold"/>
                <a:cs typeface="Aileron Bold"/>
                <a:sym typeface="Aileron Bold"/>
              </a:rPr>
              <a:t>MUHAMMAD DAFFA || 103012400110</a:t>
            </a:r>
          </a:p>
        </p:txBody>
      </p:sp>
      <p:sp>
        <p:nvSpPr>
          <p:cNvPr name="TextBox 15" id="15"/>
          <p:cNvSpPr txBox="true"/>
          <p:nvPr/>
        </p:nvSpPr>
        <p:spPr>
          <a:xfrm rot="0">
            <a:off x="4635084" y="7287528"/>
            <a:ext cx="9017831" cy="505279"/>
          </a:xfrm>
          <a:prstGeom prst="rect">
            <a:avLst/>
          </a:prstGeom>
        </p:spPr>
        <p:txBody>
          <a:bodyPr anchor="t" rtlCol="false" tIns="0" lIns="0" bIns="0" rIns="0">
            <a:spAutoFit/>
          </a:bodyPr>
          <a:lstStyle/>
          <a:p>
            <a:pPr algn="l">
              <a:lnSpc>
                <a:spcPts val="4033"/>
              </a:lnSpc>
              <a:spcBef>
                <a:spcPct val="0"/>
              </a:spcBef>
            </a:pPr>
            <a:r>
              <a:rPr lang="en-US" b="true" sz="2881">
                <a:solidFill>
                  <a:srgbClr val="031411"/>
                </a:solidFill>
                <a:latin typeface="Aileron Bold"/>
                <a:ea typeface="Aileron Bold"/>
                <a:cs typeface="Aileron Bold"/>
                <a:sym typeface="Aileron Bold"/>
              </a:rPr>
              <a:t>MUHAMMAD LUTFI FITRIANSYAH || 103012400237</a:t>
            </a:r>
          </a:p>
        </p:txBody>
      </p:sp>
      <p:sp>
        <p:nvSpPr>
          <p:cNvPr name="AutoShape 16" id="16"/>
          <p:cNvSpPr/>
          <p:nvPr/>
        </p:nvSpPr>
        <p:spPr>
          <a:xfrm>
            <a:off x="4907065" y="5507375"/>
            <a:ext cx="7883995" cy="0"/>
          </a:xfrm>
          <a:prstGeom prst="line">
            <a:avLst/>
          </a:prstGeom>
          <a:ln cap="flat" w="19050">
            <a:solidFill>
              <a:srgbClr val="000000"/>
            </a:solidFill>
            <a:prstDash val="solid"/>
            <a:headEnd type="none" len="sm" w="sm"/>
            <a:tailEnd type="none" len="sm" w="sm"/>
          </a:ln>
        </p:spPr>
      </p:sp>
      <p:sp>
        <p:nvSpPr>
          <p:cNvPr name="AutoShape 17" id="17"/>
          <p:cNvSpPr/>
          <p:nvPr/>
        </p:nvSpPr>
        <p:spPr>
          <a:xfrm>
            <a:off x="4907065" y="6706503"/>
            <a:ext cx="7883995" cy="0"/>
          </a:xfrm>
          <a:prstGeom prst="line">
            <a:avLst/>
          </a:prstGeom>
          <a:ln cap="flat" w="19050">
            <a:solidFill>
              <a:srgbClr val="000000"/>
            </a:solidFill>
            <a:prstDash val="solid"/>
            <a:headEnd type="none" len="sm" w="sm"/>
            <a:tailEnd type="none" len="sm" w="sm"/>
          </a:ln>
        </p:spPr>
      </p:sp>
      <p:sp>
        <p:nvSpPr>
          <p:cNvPr name="AutoShape 18" id="18"/>
          <p:cNvSpPr/>
          <p:nvPr/>
        </p:nvSpPr>
        <p:spPr>
          <a:xfrm>
            <a:off x="4907065" y="7957893"/>
            <a:ext cx="7883995" cy="0"/>
          </a:xfrm>
          <a:prstGeom prst="line">
            <a:avLst/>
          </a:prstGeom>
          <a:ln cap="flat" w="19050">
            <a:solidFill>
              <a:srgbClr val="00000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sp>
        <p:nvSpPr>
          <p:cNvPr name="TextBox 2" id="2"/>
          <p:cNvSpPr txBox="true"/>
          <p:nvPr/>
        </p:nvSpPr>
        <p:spPr>
          <a:xfrm rot="0">
            <a:off x="1719925" y="4201545"/>
            <a:ext cx="15166483" cy="2734310"/>
          </a:xfrm>
          <a:prstGeom prst="rect">
            <a:avLst/>
          </a:prstGeom>
        </p:spPr>
        <p:txBody>
          <a:bodyPr anchor="t" rtlCol="false" tIns="0" lIns="0" bIns="0" rIns="0">
            <a:spAutoFit/>
          </a:bodyPr>
          <a:lstStyle/>
          <a:p>
            <a:pPr algn="just">
              <a:lnSpc>
                <a:spcPts val="3639"/>
              </a:lnSpc>
              <a:spcBef>
                <a:spcPct val="0"/>
              </a:spcBef>
            </a:pPr>
            <a:r>
              <a:rPr lang="en-US" sz="2599" spc="-140">
                <a:solidFill>
                  <a:srgbClr val="031411"/>
                </a:solidFill>
                <a:latin typeface="Aileron"/>
                <a:ea typeface="Aileron"/>
                <a:cs typeface="Aileron"/>
                <a:sym typeface="Aileron"/>
              </a:rPr>
              <a:t>Sistem Tracking Tugas Tim adalah platform berbasis LMS untuk mengelola dan mendokumentasikan pengerjaan tugas. Sistem ini mengadopsi konsep menyerupai LMS dengan menyediakan akses bagi dosen untuk manajemen tugas serta mahasiswa untuk pemantauan progres. Melalui fitur pembuatan tugas, pembagian anggota, pengaturan tenggat waktu, hingga forum diskusi, platform ini memastikan setiap alur kerja terdokumentasi dengan jelas dan akuntabel. Dengan adanya sistem terpusat ini, proses kolaborasi tim menjadi lebih terstruktur dan mempermudah evaluasi kinerja secara real-time.</a:t>
            </a:r>
          </a:p>
        </p:txBody>
      </p:sp>
      <p:grpSp>
        <p:nvGrpSpPr>
          <p:cNvPr name="Group 3" id="3"/>
          <p:cNvGrpSpPr/>
          <p:nvPr/>
        </p:nvGrpSpPr>
        <p:grpSpPr>
          <a:xfrm rot="10583591">
            <a:off x="1578009" y="1835666"/>
            <a:ext cx="12182245" cy="1565142"/>
            <a:chOff x="0" y="0"/>
            <a:chExt cx="4981389" cy="639995"/>
          </a:xfrm>
        </p:grpSpPr>
        <p:sp>
          <p:nvSpPr>
            <p:cNvPr name="Freeform 4" id="4"/>
            <p:cNvSpPr/>
            <p:nvPr/>
          </p:nvSpPr>
          <p:spPr>
            <a:xfrm flipH="false" flipV="false" rot="0">
              <a:off x="0" y="0"/>
              <a:ext cx="4981389" cy="639995"/>
            </a:xfrm>
            <a:custGeom>
              <a:avLst/>
              <a:gdLst/>
              <a:ahLst/>
              <a:cxnLst/>
              <a:rect r="r" b="b" t="t" l="l"/>
              <a:pathLst>
                <a:path h="639995" w="4981389">
                  <a:moveTo>
                    <a:pt x="0" y="0"/>
                  </a:moveTo>
                  <a:lnTo>
                    <a:pt x="4981389" y="0"/>
                  </a:lnTo>
                  <a:lnTo>
                    <a:pt x="4981389" y="639995"/>
                  </a:lnTo>
                  <a:lnTo>
                    <a:pt x="0" y="639995"/>
                  </a:lnTo>
                  <a:close/>
                </a:path>
              </a:pathLst>
            </a:custGeom>
            <a:solidFill>
              <a:srgbClr val="052E25"/>
            </a:solidFill>
          </p:spPr>
        </p:sp>
        <p:sp>
          <p:nvSpPr>
            <p:cNvPr name="TextBox 5" id="5"/>
            <p:cNvSpPr txBox="true"/>
            <p:nvPr/>
          </p:nvSpPr>
          <p:spPr>
            <a:xfrm>
              <a:off x="0" y="-57150"/>
              <a:ext cx="4981389" cy="697145"/>
            </a:xfrm>
            <a:prstGeom prst="rect">
              <a:avLst/>
            </a:prstGeom>
          </p:spPr>
          <p:txBody>
            <a:bodyPr anchor="ctr" rtlCol="false" tIns="50800" lIns="50800" bIns="50800" rIns="50800"/>
            <a:lstStyle/>
            <a:p>
              <a:pPr algn="ctr">
                <a:lnSpc>
                  <a:spcPts val="3407"/>
                </a:lnSpc>
              </a:pPr>
            </a:p>
          </p:txBody>
        </p:sp>
      </p:grpSp>
      <p:sp>
        <p:nvSpPr>
          <p:cNvPr name="TextBox 6" id="6"/>
          <p:cNvSpPr txBox="true"/>
          <p:nvPr/>
        </p:nvSpPr>
        <p:spPr>
          <a:xfrm rot="-214271">
            <a:off x="1778743" y="1649082"/>
            <a:ext cx="12128506" cy="1698770"/>
          </a:xfrm>
          <a:prstGeom prst="rect">
            <a:avLst/>
          </a:prstGeom>
        </p:spPr>
        <p:txBody>
          <a:bodyPr anchor="t" rtlCol="false" tIns="0" lIns="0" bIns="0" rIns="0">
            <a:spAutoFit/>
          </a:bodyPr>
          <a:lstStyle/>
          <a:p>
            <a:pPr algn="ctr">
              <a:lnSpc>
                <a:spcPts val="13847"/>
              </a:lnSpc>
              <a:spcBef>
                <a:spcPct val="0"/>
              </a:spcBef>
            </a:pPr>
            <a:r>
              <a:rPr lang="en-US" b="true" sz="9891">
                <a:solidFill>
                  <a:srgbClr val="FFFDF8"/>
                </a:solidFill>
                <a:latin typeface="Aileron Heavy"/>
                <a:ea typeface="Aileron Heavy"/>
                <a:cs typeface="Aileron Heavy"/>
                <a:sym typeface="Aileron Heavy"/>
              </a:rPr>
              <a:t>LATAR BELAKANG</a:t>
            </a:r>
          </a:p>
        </p:txBody>
      </p:sp>
      <p:sp>
        <p:nvSpPr>
          <p:cNvPr name="TextBox 7" id="7"/>
          <p:cNvSpPr txBox="true"/>
          <p:nvPr/>
        </p:nvSpPr>
        <p:spPr>
          <a:xfrm rot="0">
            <a:off x="1028700" y="981075"/>
            <a:ext cx="3618291" cy="389255"/>
          </a:xfrm>
          <a:prstGeom prst="rect">
            <a:avLst/>
          </a:prstGeom>
        </p:spPr>
        <p:txBody>
          <a:bodyPr anchor="t" rtlCol="false" tIns="0" lIns="0" bIns="0" rIns="0">
            <a:spAutoFit/>
          </a:bodyPr>
          <a:lstStyle/>
          <a:p>
            <a:pPr algn="l">
              <a:lnSpc>
                <a:spcPts val="3219"/>
              </a:lnSpc>
              <a:spcBef>
                <a:spcPct val="0"/>
              </a:spcBef>
            </a:pPr>
            <a:r>
              <a:rPr lang="en-US" sz="2299">
                <a:solidFill>
                  <a:srgbClr val="031411"/>
                </a:solidFill>
                <a:latin typeface="Aileron"/>
                <a:ea typeface="Aileron"/>
                <a:cs typeface="Aileron"/>
                <a:sym typeface="Aileron"/>
              </a:rPr>
              <a:t>SISTEM TRACKING TUGAS</a:t>
            </a:r>
          </a:p>
        </p:txBody>
      </p:sp>
      <p:grpSp>
        <p:nvGrpSpPr>
          <p:cNvPr name="Group 8" id="8"/>
          <p:cNvGrpSpPr/>
          <p:nvPr/>
        </p:nvGrpSpPr>
        <p:grpSpPr>
          <a:xfrm rot="0">
            <a:off x="17259300" y="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52E25"/>
            </a:solidFill>
          </p:spPr>
        </p:sp>
        <p:sp>
          <p:nvSpPr>
            <p:cNvPr name="TextBox 10" id="10"/>
            <p:cNvSpPr txBox="true"/>
            <p:nvPr/>
          </p:nvSpPr>
          <p:spPr>
            <a:xfrm>
              <a:off x="0" y="-57150"/>
              <a:ext cx="270933" cy="328083"/>
            </a:xfrm>
            <a:prstGeom prst="rect">
              <a:avLst/>
            </a:prstGeom>
          </p:spPr>
          <p:txBody>
            <a:bodyPr anchor="ctr" rtlCol="false" tIns="50800" lIns="50800" bIns="50800" rIns="50800"/>
            <a:lstStyle/>
            <a:p>
              <a:pPr algn="ctr">
                <a:lnSpc>
                  <a:spcPts val="3407"/>
                </a:lnSpc>
              </a:pPr>
            </a:p>
          </p:txBody>
        </p:sp>
      </p:grpSp>
      <p:sp>
        <p:nvSpPr>
          <p:cNvPr name="Freeform 11" id="11"/>
          <p:cNvSpPr/>
          <p:nvPr/>
        </p:nvSpPr>
        <p:spPr>
          <a:xfrm flipH="true" flipV="true" rot="0">
            <a:off x="17540321" y="281021"/>
            <a:ext cx="466658" cy="466658"/>
          </a:xfrm>
          <a:custGeom>
            <a:avLst/>
            <a:gdLst/>
            <a:ahLst/>
            <a:cxnLst/>
            <a:rect r="r" b="b" t="t" l="l"/>
            <a:pathLst>
              <a:path h="466658" w="466658">
                <a:moveTo>
                  <a:pt x="466658" y="466658"/>
                </a:moveTo>
                <a:lnTo>
                  <a:pt x="0" y="466658"/>
                </a:lnTo>
                <a:lnTo>
                  <a:pt x="0" y="0"/>
                </a:lnTo>
                <a:lnTo>
                  <a:pt x="466658" y="0"/>
                </a:lnTo>
                <a:lnTo>
                  <a:pt x="466658" y="466658"/>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10800000">
            <a:off x="9320875" y="9258300"/>
            <a:ext cx="1028700" cy="1028700"/>
            <a:chOff x="0" y="0"/>
            <a:chExt cx="270933" cy="270933"/>
          </a:xfrm>
        </p:grpSpPr>
        <p:sp>
          <p:nvSpPr>
            <p:cNvPr name="Freeform 13" id="13"/>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52E25"/>
            </a:solidFill>
          </p:spPr>
        </p:sp>
        <p:sp>
          <p:nvSpPr>
            <p:cNvPr name="TextBox 14" id="14"/>
            <p:cNvSpPr txBox="true"/>
            <p:nvPr/>
          </p:nvSpPr>
          <p:spPr>
            <a:xfrm>
              <a:off x="0" y="-57150"/>
              <a:ext cx="270933" cy="328083"/>
            </a:xfrm>
            <a:prstGeom prst="rect">
              <a:avLst/>
            </a:prstGeom>
          </p:spPr>
          <p:txBody>
            <a:bodyPr anchor="ctr" rtlCol="false" tIns="50800" lIns="50800" bIns="50800" rIns="50800"/>
            <a:lstStyle/>
            <a:p>
              <a:pPr algn="ctr">
                <a:lnSpc>
                  <a:spcPts val="3407"/>
                </a:lnSpc>
              </a:pPr>
            </a:p>
          </p:txBody>
        </p:sp>
      </p:grpSp>
      <p:sp>
        <p:nvSpPr>
          <p:cNvPr name="Freeform 15" id="15"/>
          <p:cNvSpPr/>
          <p:nvPr/>
        </p:nvSpPr>
        <p:spPr>
          <a:xfrm flipH="true" flipV="true" rot="-10800000">
            <a:off x="9601896" y="9539321"/>
            <a:ext cx="466658" cy="466658"/>
          </a:xfrm>
          <a:custGeom>
            <a:avLst/>
            <a:gdLst/>
            <a:ahLst/>
            <a:cxnLst/>
            <a:rect r="r" b="b" t="t" l="l"/>
            <a:pathLst>
              <a:path h="466658" w="466658">
                <a:moveTo>
                  <a:pt x="466658" y="466658"/>
                </a:moveTo>
                <a:lnTo>
                  <a:pt x="0" y="466658"/>
                </a:lnTo>
                <a:lnTo>
                  <a:pt x="0" y="0"/>
                </a:lnTo>
                <a:lnTo>
                  <a:pt x="466658" y="0"/>
                </a:lnTo>
                <a:lnTo>
                  <a:pt x="466658" y="466658"/>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5400000">
            <a:off x="-5104062" y="5104062"/>
            <a:ext cx="10287000" cy="78875"/>
            <a:chOff x="0" y="0"/>
            <a:chExt cx="2709333" cy="20774"/>
          </a:xfrm>
        </p:grpSpPr>
        <p:sp>
          <p:nvSpPr>
            <p:cNvPr name="Freeform 3" id="3"/>
            <p:cNvSpPr/>
            <p:nvPr/>
          </p:nvSpPr>
          <p:spPr>
            <a:xfrm flipH="false" flipV="false" rot="0">
              <a:off x="0" y="0"/>
              <a:ext cx="2709333" cy="20774"/>
            </a:xfrm>
            <a:custGeom>
              <a:avLst/>
              <a:gdLst/>
              <a:ahLst/>
              <a:cxnLst/>
              <a:rect r="r" b="b" t="t" l="l"/>
              <a:pathLst>
                <a:path h="20774" w="2709333">
                  <a:moveTo>
                    <a:pt x="0" y="0"/>
                  </a:moveTo>
                  <a:lnTo>
                    <a:pt x="2709333" y="0"/>
                  </a:lnTo>
                  <a:lnTo>
                    <a:pt x="2709333" y="20774"/>
                  </a:lnTo>
                  <a:lnTo>
                    <a:pt x="0" y="20774"/>
                  </a:lnTo>
                  <a:close/>
                </a:path>
              </a:pathLst>
            </a:custGeom>
            <a:solidFill>
              <a:srgbClr val="052E25"/>
            </a:solidFill>
          </p:spPr>
        </p:sp>
        <p:sp>
          <p:nvSpPr>
            <p:cNvPr name="TextBox 4" id="4"/>
            <p:cNvSpPr txBox="true"/>
            <p:nvPr/>
          </p:nvSpPr>
          <p:spPr>
            <a:xfrm>
              <a:off x="0" y="-57150"/>
              <a:ext cx="2709333" cy="77924"/>
            </a:xfrm>
            <a:prstGeom prst="rect">
              <a:avLst/>
            </a:prstGeom>
          </p:spPr>
          <p:txBody>
            <a:bodyPr anchor="ctr" rtlCol="false" tIns="50800" lIns="50800" bIns="50800" rIns="50800"/>
            <a:lstStyle/>
            <a:p>
              <a:pPr algn="ctr">
                <a:lnSpc>
                  <a:spcPts val="3407"/>
                </a:lnSpc>
              </a:pPr>
            </a:p>
          </p:txBody>
        </p:sp>
      </p:grpSp>
      <p:grpSp>
        <p:nvGrpSpPr>
          <p:cNvPr name="Group 5" id="5"/>
          <p:cNvGrpSpPr/>
          <p:nvPr/>
        </p:nvGrpSpPr>
        <p:grpSpPr>
          <a:xfrm rot="5400000">
            <a:off x="13105062" y="5104062"/>
            <a:ext cx="10287000" cy="78875"/>
            <a:chOff x="0" y="0"/>
            <a:chExt cx="2709333" cy="20774"/>
          </a:xfrm>
        </p:grpSpPr>
        <p:sp>
          <p:nvSpPr>
            <p:cNvPr name="Freeform 6" id="6"/>
            <p:cNvSpPr/>
            <p:nvPr/>
          </p:nvSpPr>
          <p:spPr>
            <a:xfrm flipH="false" flipV="false" rot="0">
              <a:off x="0" y="0"/>
              <a:ext cx="2709333" cy="20774"/>
            </a:xfrm>
            <a:custGeom>
              <a:avLst/>
              <a:gdLst/>
              <a:ahLst/>
              <a:cxnLst/>
              <a:rect r="r" b="b" t="t" l="l"/>
              <a:pathLst>
                <a:path h="20774" w="2709333">
                  <a:moveTo>
                    <a:pt x="0" y="0"/>
                  </a:moveTo>
                  <a:lnTo>
                    <a:pt x="2709333" y="0"/>
                  </a:lnTo>
                  <a:lnTo>
                    <a:pt x="2709333" y="20774"/>
                  </a:lnTo>
                  <a:lnTo>
                    <a:pt x="0" y="20774"/>
                  </a:lnTo>
                  <a:close/>
                </a:path>
              </a:pathLst>
            </a:custGeom>
            <a:solidFill>
              <a:srgbClr val="052E25"/>
            </a:solidFill>
          </p:spPr>
        </p:sp>
        <p:sp>
          <p:nvSpPr>
            <p:cNvPr name="TextBox 7" id="7"/>
            <p:cNvSpPr txBox="true"/>
            <p:nvPr/>
          </p:nvSpPr>
          <p:spPr>
            <a:xfrm>
              <a:off x="0" y="-57150"/>
              <a:ext cx="2709333" cy="77924"/>
            </a:xfrm>
            <a:prstGeom prst="rect">
              <a:avLst/>
            </a:prstGeom>
          </p:spPr>
          <p:txBody>
            <a:bodyPr anchor="ctr" rtlCol="false" tIns="50800" lIns="50800" bIns="50800" rIns="50800"/>
            <a:lstStyle/>
            <a:p>
              <a:pPr algn="ctr">
                <a:lnSpc>
                  <a:spcPts val="3407"/>
                </a:lnSpc>
              </a:pPr>
            </a:p>
          </p:txBody>
        </p:sp>
      </p:grpSp>
      <p:sp>
        <p:nvSpPr>
          <p:cNvPr name="TextBox 8" id="8"/>
          <p:cNvSpPr txBox="true"/>
          <p:nvPr/>
        </p:nvSpPr>
        <p:spPr>
          <a:xfrm rot="0">
            <a:off x="1028700" y="1541558"/>
            <a:ext cx="15640725" cy="1302861"/>
          </a:xfrm>
          <a:prstGeom prst="rect">
            <a:avLst/>
          </a:prstGeom>
        </p:spPr>
        <p:txBody>
          <a:bodyPr anchor="t" rtlCol="false" tIns="0" lIns="0" bIns="0" rIns="0">
            <a:spAutoFit/>
          </a:bodyPr>
          <a:lstStyle/>
          <a:p>
            <a:pPr algn="l">
              <a:lnSpc>
                <a:spcPts val="9598"/>
              </a:lnSpc>
            </a:pPr>
            <a:r>
              <a:rPr lang="en-US" b="true" sz="10547" spc="-358">
                <a:solidFill>
                  <a:srgbClr val="031411"/>
                </a:solidFill>
                <a:latin typeface="Aileron Heavy"/>
                <a:ea typeface="Aileron Heavy"/>
                <a:cs typeface="Aileron Heavy"/>
                <a:sym typeface="Aileron Heavy"/>
              </a:rPr>
              <a:t>TUJUAN DAN MANFAAT</a:t>
            </a:r>
          </a:p>
        </p:txBody>
      </p:sp>
      <p:sp>
        <p:nvSpPr>
          <p:cNvPr name="Freeform 9" id="9"/>
          <p:cNvSpPr/>
          <p:nvPr/>
        </p:nvSpPr>
        <p:spPr>
          <a:xfrm flipH="true" flipV="true" rot="-10800000">
            <a:off x="8523853" y="3563575"/>
            <a:ext cx="388842" cy="388842"/>
          </a:xfrm>
          <a:custGeom>
            <a:avLst/>
            <a:gdLst/>
            <a:ahLst/>
            <a:cxnLst/>
            <a:rect r="r" b="b" t="t" l="l"/>
            <a:pathLst>
              <a:path h="388842" w="388842">
                <a:moveTo>
                  <a:pt x="388842" y="388841"/>
                </a:moveTo>
                <a:lnTo>
                  <a:pt x="0" y="388841"/>
                </a:lnTo>
                <a:lnTo>
                  <a:pt x="0" y="0"/>
                </a:lnTo>
                <a:lnTo>
                  <a:pt x="388842" y="0"/>
                </a:lnTo>
                <a:lnTo>
                  <a:pt x="388842" y="38884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0" id="10"/>
          <p:cNvSpPr/>
          <p:nvPr/>
        </p:nvSpPr>
        <p:spPr>
          <a:xfrm>
            <a:off x="1028700" y="4191277"/>
            <a:ext cx="7883995" cy="0"/>
          </a:xfrm>
          <a:prstGeom prst="line">
            <a:avLst/>
          </a:prstGeom>
          <a:ln cap="flat" w="19050">
            <a:solidFill>
              <a:srgbClr val="000000"/>
            </a:solidFill>
            <a:prstDash val="solid"/>
            <a:headEnd type="none" len="sm" w="sm"/>
            <a:tailEnd type="none" len="sm" w="sm"/>
          </a:ln>
        </p:spPr>
      </p:sp>
      <p:sp>
        <p:nvSpPr>
          <p:cNvPr name="Freeform 11" id="11"/>
          <p:cNvSpPr/>
          <p:nvPr/>
        </p:nvSpPr>
        <p:spPr>
          <a:xfrm flipH="true" flipV="true" rot="-10800000">
            <a:off x="8523853" y="4614505"/>
            <a:ext cx="388842" cy="388842"/>
          </a:xfrm>
          <a:custGeom>
            <a:avLst/>
            <a:gdLst/>
            <a:ahLst/>
            <a:cxnLst/>
            <a:rect r="r" b="b" t="t" l="l"/>
            <a:pathLst>
              <a:path h="388842" w="388842">
                <a:moveTo>
                  <a:pt x="388842" y="388842"/>
                </a:moveTo>
                <a:lnTo>
                  <a:pt x="0" y="388842"/>
                </a:lnTo>
                <a:lnTo>
                  <a:pt x="0" y="0"/>
                </a:lnTo>
                <a:lnTo>
                  <a:pt x="388842" y="0"/>
                </a:lnTo>
                <a:lnTo>
                  <a:pt x="388842" y="3888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2" id="12"/>
          <p:cNvSpPr/>
          <p:nvPr/>
        </p:nvSpPr>
        <p:spPr>
          <a:xfrm>
            <a:off x="1028700" y="5242207"/>
            <a:ext cx="7883995" cy="0"/>
          </a:xfrm>
          <a:prstGeom prst="line">
            <a:avLst/>
          </a:prstGeom>
          <a:ln cap="flat" w="19050">
            <a:solidFill>
              <a:srgbClr val="000000"/>
            </a:solidFill>
            <a:prstDash val="solid"/>
            <a:headEnd type="none" len="sm" w="sm"/>
            <a:tailEnd type="none" len="sm" w="sm"/>
          </a:ln>
        </p:spPr>
      </p:sp>
      <p:sp>
        <p:nvSpPr>
          <p:cNvPr name="TextBox 13" id="13"/>
          <p:cNvSpPr txBox="true"/>
          <p:nvPr/>
        </p:nvSpPr>
        <p:spPr>
          <a:xfrm rot="0">
            <a:off x="1028700" y="5657261"/>
            <a:ext cx="7689574" cy="398526"/>
          </a:xfrm>
          <a:prstGeom prst="rect">
            <a:avLst/>
          </a:prstGeom>
        </p:spPr>
        <p:txBody>
          <a:bodyPr anchor="t" rtlCol="false" tIns="0" lIns="0" bIns="0" rIns="0">
            <a:spAutoFit/>
          </a:bodyPr>
          <a:lstStyle/>
          <a:p>
            <a:pPr algn="l">
              <a:lnSpc>
                <a:spcPts val="3234"/>
              </a:lnSpc>
              <a:spcBef>
                <a:spcPct val="0"/>
              </a:spcBef>
            </a:pPr>
            <a:r>
              <a:rPr lang="en-US" b="true" sz="2310">
                <a:solidFill>
                  <a:srgbClr val="031411"/>
                </a:solidFill>
                <a:latin typeface="Aileron Bold"/>
                <a:ea typeface="Aileron Bold"/>
                <a:cs typeface="Aileron Bold"/>
                <a:sym typeface="Aileron Bold"/>
              </a:rPr>
              <a:t>OPTIMALISASI KOLABORASI DAN KOMUNIKASI</a:t>
            </a:r>
          </a:p>
        </p:txBody>
      </p:sp>
      <p:sp>
        <p:nvSpPr>
          <p:cNvPr name="Freeform 14" id="14"/>
          <p:cNvSpPr/>
          <p:nvPr/>
        </p:nvSpPr>
        <p:spPr>
          <a:xfrm flipH="true" flipV="true" rot="-10800000">
            <a:off x="8523853" y="5666210"/>
            <a:ext cx="388842" cy="388842"/>
          </a:xfrm>
          <a:custGeom>
            <a:avLst/>
            <a:gdLst/>
            <a:ahLst/>
            <a:cxnLst/>
            <a:rect r="r" b="b" t="t" l="l"/>
            <a:pathLst>
              <a:path h="388842" w="388842">
                <a:moveTo>
                  <a:pt x="388842" y="388841"/>
                </a:moveTo>
                <a:lnTo>
                  <a:pt x="0" y="388841"/>
                </a:lnTo>
                <a:lnTo>
                  <a:pt x="0" y="0"/>
                </a:lnTo>
                <a:lnTo>
                  <a:pt x="388842" y="0"/>
                </a:lnTo>
                <a:lnTo>
                  <a:pt x="388842" y="38884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5" id="15"/>
          <p:cNvSpPr/>
          <p:nvPr/>
        </p:nvSpPr>
        <p:spPr>
          <a:xfrm>
            <a:off x="1028700" y="6293911"/>
            <a:ext cx="7883995" cy="0"/>
          </a:xfrm>
          <a:prstGeom prst="line">
            <a:avLst/>
          </a:prstGeom>
          <a:ln cap="flat" w="19050">
            <a:solidFill>
              <a:srgbClr val="000000"/>
            </a:solidFill>
            <a:prstDash val="solid"/>
            <a:headEnd type="none" len="sm" w="sm"/>
            <a:tailEnd type="none" len="sm" w="sm"/>
          </a:ln>
        </p:spPr>
      </p:sp>
      <p:sp>
        <p:nvSpPr>
          <p:cNvPr name="Freeform 16" id="16"/>
          <p:cNvSpPr/>
          <p:nvPr/>
        </p:nvSpPr>
        <p:spPr>
          <a:xfrm flipH="true" flipV="true" rot="-10800000">
            <a:off x="8523853" y="6717914"/>
            <a:ext cx="388842" cy="388842"/>
          </a:xfrm>
          <a:custGeom>
            <a:avLst/>
            <a:gdLst/>
            <a:ahLst/>
            <a:cxnLst/>
            <a:rect r="r" b="b" t="t" l="l"/>
            <a:pathLst>
              <a:path h="388842" w="388842">
                <a:moveTo>
                  <a:pt x="388842" y="388842"/>
                </a:moveTo>
                <a:lnTo>
                  <a:pt x="0" y="388842"/>
                </a:lnTo>
                <a:lnTo>
                  <a:pt x="0" y="0"/>
                </a:lnTo>
                <a:lnTo>
                  <a:pt x="388842" y="0"/>
                </a:lnTo>
                <a:lnTo>
                  <a:pt x="388842" y="3888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7" id="17"/>
          <p:cNvSpPr/>
          <p:nvPr/>
        </p:nvSpPr>
        <p:spPr>
          <a:xfrm>
            <a:off x="1028700" y="7345616"/>
            <a:ext cx="7883995" cy="0"/>
          </a:xfrm>
          <a:prstGeom prst="line">
            <a:avLst/>
          </a:prstGeom>
          <a:ln cap="flat" w="19050">
            <a:solidFill>
              <a:srgbClr val="000000"/>
            </a:solidFill>
            <a:prstDash val="solid"/>
            <a:headEnd type="none" len="sm" w="sm"/>
            <a:tailEnd type="none" len="sm" w="sm"/>
          </a:ln>
        </p:spPr>
      </p:sp>
      <p:sp>
        <p:nvSpPr>
          <p:cNvPr name="Freeform 18" id="18"/>
          <p:cNvSpPr/>
          <p:nvPr/>
        </p:nvSpPr>
        <p:spPr>
          <a:xfrm flipH="true" flipV="true" rot="-10800000">
            <a:off x="8523853" y="7769618"/>
            <a:ext cx="388842" cy="388842"/>
          </a:xfrm>
          <a:custGeom>
            <a:avLst/>
            <a:gdLst/>
            <a:ahLst/>
            <a:cxnLst/>
            <a:rect r="r" b="b" t="t" l="l"/>
            <a:pathLst>
              <a:path h="388842" w="388842">
                <a:moveTo>
                  <a:pt x="388842" y="388842"/>
                </a:moveTo>
                <a:lnTo>
                  <a:pt x="0" y="388842"/>
                </a:lnTo>
                <a:lnTo>
                  <a:pt x="0" y="0"/>
                </a:lnTo>
                <a:lnTo>
                  <a:pt x="388842" y="0"/>
                </a:lnTo>
                <a:lnTo>
                  <a:pt x="388842" y="3888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a:off x="1141251" y="8345613"/>
            <a:ext cx="7883995" cy="0"/>
          </a:xfrm>
          <a:prstGeom prst="line">
            <a:avLst/>
          </a:prstGeom>
          <a:ln cap="flat" w="19050">
            <a:solidFill>
              <a:srgbClr val="000000"/>
            </a:solidFill>
            <a:prstDash val="solid"/>
            <a:headEnd type="none" len="sm" w="sm"/>
            <a:tailEnd type="none" len="sm" w="sm"/>
          </a:ln>
        </p:spPr>
      </p:sp>
      <p:sp>
        <p:nvSpPr>
          <p:cNvPr name="Freeform 20" id="20"/>
          <p:cNvSpPr/>
          <p:nvPr/>
        </p:nvSpPr>
        <p:spPr>
          <a:xfrm flipH="false" flipV="false" rot="0">
            <a:off x="16237601" y="2176101"/>
            <a:ext cx="431824" cy="431824"/>
          </a:xfrm>
          <a:custGeom>
            <a:avLst/>
            <a:gdLst/>
            <a:ahLst/>
            <a:cxnLst/>
            <a:rect r="r" b="b" t="t" l="l"/>
            <a:pathLst>
              <a:path h="431824" w="431824">
                <a:moveTo>
                  <a:pt x="0" y="0"/>
                </a:moveTo>
                <a:lnTo>
                  <a:pt x="431824" y="0"/>
                </a:lnTo>
                <a:lnTo>
                  <a:pt x="431824" y="431824"/>
                </a:lnTo>
                <a:lnTo>
                  <a:pt x="0" y="4318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028700" y="3629805"/>
            <a:ext cx="7261505" cy="398634"/>
          </a:xfrm>
          <a:prstGeom prst="rect">
            <a:avLst/>
          </a:prstGeom>
        </p:spPr>
        <p:txBody>
          <a:bodyPr anchor="t" rtlCol="false" tIns="0" lIns="0" bIns="0" rIns="0">
            <a:spAutoFit/>
          </a:bodyPr>
          <a:lstStyle/>
          <a:p>
            <a:pPr algn="l">
              <a:lnSpc>
                <a:spcPts val="3228"/>
              </a:lnSpc>
              <a:spcBef>
                <a:spcPct val="0"/>
              </a:spcBef>
            </a:pPr>
            <a:r>
              <a:rPr lang="en-US" b="true" sz="2305">
                <a:solidFill>
                  <a:srgbClr val="031411"/>
                </a:solidFill>
                <a:latin typeface="Aileron Bold"/>
                <a:ea typeface="Aileron Bold"/>
                <a:cs typeface="Aileron Bold"/>
                <a:sym typeface="Aileron Bold"/>
              </a:rPr>
              <a:t>MENINGKATKAN EFISIENSI MANAJEMEN TUGAS</a:t>
            </a:r>
          </a:p>
        </p:txBody>
      </p:sp>
      <p:sp>
        <p:nvSpPr>
          <p:cNvPr name="TextBox 22" id="22"/>
          <p:cNvSpPr txBox="true"/>
          <p:nvPr/>
        </p:nvSpPr>
        <p:spPr>
          <a:xfrm rot="0">
            <a:off x="1028700" y="4653181"/>
            <a:ext cx="7261505" cy="398526"/>
          </a:xfrm>
          <a:prstGeom prst="rect">
            <a:avLst/>
          </a:prstGeom>
        </p:spPr>
        <p:txBody>
          <a:bodyPr anchor="t" rtlCol="false" tIns="0" lIns="0" bIns="0" rIns="0">
            <a:spAutoFit/>
          </a:bodyPr>
          <a:lstStyle/>
          <a:p>
            <a:pPr algn="l">
              <a:lnSpc>
                <a:spcPts val="3234"/>
              </a:lnSpc>
              <a:spcBef>
                <a:spcPct val="0"/>
              </a:spcBef>
            </a:pPr>
            <a:r>
              <a:rPr lang="en-US" b="true" sz="2310">
                <a:solidFill>
                  <a:srgbClr val="031411"/>
                </a:solidFill>
                <a:latin typeface="Aileron Bold"/>
                <a:ea typeface="Aileron Bold"/>
                <a:cs typeface="Aileron Bold"/>
                <a:sym typeface="Aileron Bold"/>
              </a:rPr>
              <a:t>MENJAMIN TRANSPARANSI PROGRES KERJA</a:t>
            </a:r>
          </a:p>
        </p:txBody>
      </p:sp>
      <p:sp>
        <p:nvSpPr>
          <p:cNvPr name="TextBox 23" id="23"/>
          <p:cNvSpPr txBox="true"/>
          <p:nvPr/>
        </p:nvSpPr>
        <p:spPr>
          <a:xfrm rot="0">
            <a:off x="1028700" y="6751111"/>
            <a:ext cx="6633455" cy="398634"/>
          </a:xfrm>
          <a:prstGeom prst="rect">
            <a:avLst/>
          </a:prstGeom>
        </p:spPr>
        <p:txBody>
          <a:bodyPr anchor="t" rtlCol="false" tIns="0" lIns="0" bIns="0" rIns="0">
            <a:spAutoFit/>
          </a:bodyPr>
          <a:lstStyle/>
          <a:p>
            <a:pPr algn="l">
              <a:lnSpc>
                <a:spcPts val="3228"/>
              </a:lnSpc>
              <a:spcBef>
                <a:spcPct val="0"/>
              </a:spcBef>
            </a:pPr>
            <a:r>
              <a:rPr lang="en-US" b="true" sz="2305">
                <a:solidFill>
                  <a:srgbClr val="031411"/>
                </a:solidFill>
                <a:latin typeface="Aileron Bold"/>
                <a:ea typeface="Aileron Bold"/>
                <a:cs typeface="Aileron Bold"/>
                <a:sym typeface="Aileron Bold"/>
              </a:rPr>
              <a:t>MENYEDERHANAKAN PROSES EVALUASI</a:t>
            </a:r>
          </a:p>
        </p:txBody>
      </p:sp>
      <p:sp>
        <p:nvSpPr>
          <p:cNvPr name="TextBox 24" id="24"/>
          <p:cNvSpPr txBox="true"/>
          <p:nvPr/>
        </p:nvSpPr>
        <p:spPr>
          <a:xfrm rot="0">
            <a:off x="1028700" y="7740910"/>
            <a:ext cx="7261505" cy="398634"/>
          </a:xfrm>
          <a:prstGeom prst="rect">
            <a:avLst/>
          </a:prstGeom>
        </p:spPr>
        <p:txBody>
          <a:bodyPr anchor="t" rtlCol="false" tIns="0" lIns="0" bIns="0" rIns="0">
            <a:spAutoFit/>
          </a:bodyPr>
          <a:lstStyle/>
          <a:p>
            <a:pPr algn="l">
              <a:lnSpc>
                <a:spcPts val="3228"/>
              </a:lnSpc>
              <a:spcBef>
                <a:spcPct val="0"/>
              </a:spcBef>
            </a:pPr>
            <a:r>
              <a:rPr lang="en-US" b="true" sz="2305">
                <a:solidFill>
                  <a:srgbClr val="031411"/>
                </a:solidFill>
                <a:latin typeface="Aileron Bold"/>
                <a:ea typeface="Aileron Bold"/>
                <a:cs typeface="Aileron Bold"/>
                <a:sym typeface="Aileron Bold"/>
              </a:rPr>
              <a:t>STANDARDISASI DOKUMENTASI ALUR KERJA</a:t>
            </a:r>
          </a:p>
        </p:txBody>
      </p:sp>
      <p:sp>
        <p:nvSpPr>
          <p:cNvPr name="TextBox 25" id="25"/>
          <p:cNvSpPr txBox="true"/>
          <p:nvPr/>
        </p:nvSpPr>
        <p:spPr>
          <a:xfrm rot="0">
            <a:off x="9618912" y="3710371"/>
            <a:ext cx="7261505" cy="4494385"/>
          </a:xfrm>
          <a:prstGeom prst="rect">
            <a:avLst/>
          </a:prstGeom>
        </p:spPr>
        <p:txBody>
          <a:bodyPr anchor="t" rtlCol="false" tIns="0" lIns="0" bIns="0" rIns="0">
            <a:spAutoFit/>
          </a:bodyPr>
          <a:lstStyle/>
          <a:p>
            <a:pPr algn="l">
              <a:lnSpc>
                <a:spcPts val="3228"/>
              </a:lnSpc>
              <a:spcBef>
                <a:spcPct val="0"/>
              </a:spcBef>
            </a:pPr>
            <a:r>
              <a:rPr lang="en-US" b="true" sz="2305">
                <a:solidFill>
                  <a:srgbClr val="031411"/>
                </a:solidFill>
                <a:latin typeface="Aileron Bold"/>
                <a:ea typeface="Aileron Bold"/>
                <a:cs typeface="Aileron Bold"/>
                <a:sym typeface="Aileron Bold"/>
              </a:rPr>
              <a:t>MANFAAT UTAMA SISTEM INI ADALAH MENINGKATKAN KEDISIPLINAN DAN TRANSPARANSI DALAM PENGERJAAN TUGAS KELOMPOK. MAHASISWA DIMUDAHKAN DENGAN PEMBAGIAN TUGAS YANG JELAS, SEMENTARA PENGAJAR DAPAT MENGEVALUASI KINERJA SECARA OBJEKTIF MELALUI DATA NILAI DAN PRESENSI YANG TERPUSAT. HASILNYA, PROSES KOLABORASI MENJADI LEBIH EFEKTIF KARENA SELURUH PROGRES PENGERJAAN TERDOKUMENTASI DENGAN BAIK.</a:t>
            </a:r>
          </a:p>
        </p:txBody>
      </p:sp>
      <p:sp>
        <p:nvSpPr>
          <p:cNvPr name="AutoShape 26" id="26"/>
          <p:cNvSpPr/>
          <p:nvPr/>
        </p:nvSpPr>
        <p:spPr>
          <a:xfrm flipV="true">
            <a:off x="9618912" y="8345613"/>
            <a:ext cx="7261505" cy="9525"/>
          </a:xfrm>
          <a:prstGeom prst="line">
            <a:avLst/>
          </a:prstGeom>
          <a:ln cap="flat" w="19050">
            <a:solidFill>
              <a:srgbClr val="000000"/>
            </a:solidFill>
            <a:prstDash val="solid"/>
            <a:headEnd type="none" len="sm" w="sm"/>
            <a:tailEnd type="none" len="sm" w="sm"/>
          </a:ln>
        </p:spPr>
      </p:sp>
      <p:sp>
        <p:nvSpPr>
          <p:cNvPr name="AutoShape 27" id="27"/>
          <p:cNvSpPr/>
          <p:nvPr/>
        </p:nvSpPr>
        <p:spPr>
          <a:xfrm flipV="true">
            <a:off x="9337959" y="3757996"/>
            <a:ext cx="0" cy="4587617"/>
          </a:xfrm>
          <a:prstGeom prst="line">
            <a:avLst/>
          </a:prstGeom>
          <a:ln cap="flat" w="19050">
            <a:solidFill>
              <a:srgbClr val="00000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52E25"/>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407"/>
                </a:lnSpc>
              </a:pPr>
            </a:p>
          </p:txBody>
        </p:sp>
      </p:grpSp>
      <p:grpSp>
        <p:nvGrpSpPr>
          <p:cNvPr name="Group 5" id="5"/>
          <p:cNvGrpSpPr/>
          <p:nvPr/>
        </p:nvGrpSpPr>
        <p:grpSpPr>
          <a:xfrm rot="0">
            <a:off x="0" y="10208125"/>
            <a:ext cx="9144000" cy="78875"/>
            <a:chOff x="0" y="0"/>
            <a:chExt cx="2408296" cy="20774"/>
          </a:xfrm>
        </p:grpSpPr>
        <p:sp>
          <p:nvSpPr>
            <p:cNvPr name="Freeform 6" id="6"/>
            <p:cNvSpPr/>
            <p:nvPr/>
          </p:nvSpPr>
          <p:spPr>
            <a:xfrm flipH="false" flipV="false" rot="0">
              <a:off x="0" y="0"/>
              <a:ext cx="2408296" cy="20774"/>
            </a:xfrm>
            <a:custGeom>
              <a:avLst/>
              <a:gdLst/>
              <a:ahLst/>
              <a:cxnLst/>
              <a:rect r="r" b="b" t="t" l="l"/>
              <a:pathLst>
                <a:path h="20774" w="2408296">
                  <a:moveTo>
                    <a:pt x="0" y="0"/>
                  </a:moveTo>
                  <a:lnTo>
                    <a:pt x="2408296" y="0"/>
                  </a:lnTo>
                  <a:lnTo>
                    <a:pt x="2408296" y="20774"/>
                  </a:lnTo>
                  <a:lnTo>
                    <a:pt x="0" y="20774"/>
                  </a:lnTo>
                  <a:close/>
                </a:path>
              </a:pathLst>
            </a:custGeom>
            <a:solidFill>
              <a:srgbClr val="052E25"/>
            </a:solidFill>
          </p:spPr>
        </p:sp>
        <p:sp>
          <p:nvSpPr>
            <p:cNvPr name="TextBox 7" id="7"/>
            <p:cNvSpPr txBox="true"/>
            <p:nvPr/>
          </p:nvSpPr>
          <p:spPr>
            <a:xfrm>
              <a:off x="0" y="-57150"/>
              <a:ext cx="2408296" cy="77924"/>
            </a:xfrm>
            <a:prstGeom prst="rect">
              <a:avLst/>
            </a:prstGeom>
          </p:spPr>
          <p:txBody>
            <a:bodyPr anchor="ctr" rtlCol="false" tIns="50800" lIns="50800" bIns="50800" rIns="50800"/>
            <a:lstStyle/>
            <a:p>
              <a:pPr algn="ctr">
                <a:lnSpc>
                  <a:spcPts val="3407"/>
                </a:lnSpc>
              </a:pPr>
            </a:p>
          </p:txBody>
        </p:sp>
      </p:grpSp>
      <p:sp>
        <p:nvSpPr>
          <p:cNvPr name="Freeform 8" id="8"/>
          <p:cNvSpPr/>
          <p:nvPr/>
        </p:nvSpPr>
        <p:spPr>
          <a:xfrm flipH="false" flipV="false" rot="0">
            <a:off x="2855677" y="3451786"/>
            <a:ext cx="14127412" cy="2066134"/>
          </a:xfrm>
          <a:custGeom>
            <a:avLst/>
            <a:gdLst/>
            <a:ahLst/>
            <a:cxnLst/>
            <a:rect r="r" b="b" t="t" l="l"/>
            <a:pathLst>
              <a:path h="2066134" w="14127412">
                <a:moveTo>
                  <a:pt x="0" y="0"/>
                </a:moveTo>
                <a:lnTo>
                  <a:pt x="14127411" y="0"/>
                </a:lnTo>
                <a:lnTo>
                  <a:pt x="14127411" y="2066134"/>
                </a:lnTo>
                <a:lnTo>
                  <a:pt x="0" y="2066134"/>
                </a:lnTo>
                <a:lnTo>
                  <a:pt x="0" y="0"/>
                </a:lnTo>
                <a:close/>
              </a:path>
            </a:pathLst>
          </a:custGeom>
          <a:blipFill>
            <a:blip r:embed="rId2"/>
            <a:stretch>
              <a:fillRect l="0" t="0" r="0" b="0"/>
            </a:stretch>
          </a:blipFill>
        </p:spPr>
      </p:sp>
      <p:sp>
        <p:nvSpPr>
          <p:cNvPr name="TextBox 9" id="9"/>
          <p:cNvSpPr txBox="true"/>
          <p:nvPr/>
        </p:nvSpPr>
        <p:spPr>
          <a:xfrm rot="0">
            <a:off x="2855677" y="6089705"/>
            <a:ext cx="6132562" cy="1663065"/>
          </a:xfrm>
          <a:prstGeom prst="rect">
            <a:avLst/>
          </a:prstGeom>
        </p:spPr>
        <p:txBody>
          <a:bodyPr anchor="t" rtlCol="false" tIns="0" lIns="0" bIns="0" rIns="0">
            <a:spAutoFit/>
          </a:bodyPr>
          <a:lstStyle/>
          <a:p>
            <a:pPr algn="l">
              <a:lnSpc>
                <a:spcPts val="3359"/>
              </a:lnSpc>
            </a:pPr>
            <a:r>
              <a:rPr lang="en-US" sz="2399" b="true">
                <a:solidFill>
                  <a:srgbClr val="031411"/>
                </a:solidFill>
                <a:latin typeface="Aileron Bold"/>
                <a:ea typeface="Aileron Bold"/>
                <a:cs typeface="Aileron Bold"/>
                <a:sym typeface="Aileron Bold"/>
              </a:rPr>
              <a:t>DESKRIPSI:</a:t>
            </a:r>
          </a:p>
          <a:p>
            <a:pPr algn="l">
              <a:lnSpc>
                <a:spcPts val="3359"/>
              </a:lnSpc>
              <a:spcBef>
                <a:spcPct val="0"/>
              </a:spcBef>
            </a:pPr>
            <a:r>
              <a:rPr lang="en-US" sz="2399">
                <a:solidFill>
                  <a:srgbClr val="031411"/>
                </a:solidFill>
                <a:latin typeface="Aileron"/>
                <a:ea typeface="Aileron"/>
                <a:cs typeface="Aileron"/>
                <a:sym typeface="Aileron"/>
              </a:rPr>
              <a:t>Dosen dan Mahasiswa bisa mengirimkan input pada sistem dan sistem akan merekam inputan ke data store</a:t>
            </a:r>
          </a:p>
        </p:txBody>
      </p:sp>
      <p:sp>
        <p:nvSpPr>
          <p:cNvPr name="TextBox 10" id="10"/>
          <p:cNvSpPr txBox="true"/>
          <p:nvPr/>
        </p:nvSpPr>
        <p:spPr>
          <a:xfrm rot="0">
            <a:off x="7413077" y="633800"/>
            <a:ext cx="5012611" cy="1086415"/>
          </a:xfrm>
          <a:prstGeom prst="rect">
            <a:avLst/>
          </a:prstGeom>
        </p:spPr>
        <p:txBody>
          <a:bodyPr anchor="t" rtlCol="false" tIns="0" lIns="0" bIns="0" rIns="0">
            <a:spAutoFit/>
          </a:bodyPr>
          <a:lstStyle/>
          <a:p>
            <a:pPr algn="l">
              <a:lnSpc>
                <a:spcPts val="8893"/>
              </a:lnSpc>
              <a:spcBef>
                <a:spcPct val="0"/>
              </a:spcBef>
            </a:pPr>
            <a:r>
              <a:rPr lang="en-US" b="true" sz="6352">
                <a:solidFill>
                  <a:srgbClr val="052E25"/>
                </a:solidFill>
                <a:latin typeface="Aileron Bold"/>
                <a:ea typeface="Aileron Bold"/>
                <a:cs typeface="Aileron Bold"/>
                <a:sym typeface="Aileron Bold"/>
              </a:rPr>
              <a:t>DFD </a:t>
            </a:r>
            <a:r>
              <a:rPr lang="en-US" b="true" sz="6352">
                <a:solidFill>
                  <a:srgbClr val="FFFFFF"/>
                </a:solidFill>
                <a:latin typeface="Aileron Bold"/>
                <a:ea typeface="Aileron Bold"/>
                <a:cs typeface="Aileron Bold"/>
                <a:sym typeface="Aileron Bold"/>
              </a:rPr>
              <a:t>LEVEL 0</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52E25"/>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407"/>
                </a:lnSpc>
              </a:pPr>
            </a:p>
          </p:txBody>
        </p:sp>
      </p:grpSp>
      <p:grpSp>
        <p:nvGrpSpPr>
          <p:cNvPr name="Group 5" id="5"/>
          <p:cNvGrpSpPr/>
          <p:nvPr/>
        </p:nvGrpSpPr>
        <p:grpSpPr>
          <a:xfrm rot="0">
            <a:off x="0" y="10208125"/>
            <a:ext cx="9144000" cy="78875"/>
            <a:chOff x="0" y="0"/>
            <a:chExt cx="2408296" cy="20774"/>
          </a:xfrm>
        </p:grpSpPr>
        <p:sp>
          <p:nvSpPr>
            <p:cNvPr name="Freeform 6" id="6"/>
            <p:cNvSpPr/>
            <p:nvPr/>
          </p:nvSpPr>
          <p:spPr>
            <a:xfrm flipH="false" flipV="false" rot="0">
              <a:off x="0" y="0"/>
              <a:ext cx="2408296" cy="20774"/>
            </a:xfrm>
            <a:custGeom>
              <a:avLst/>
              <a:gdLst/>
              <a:ahLst/>
              <a:cxnLst/>
              <a:rect r="r" b="b" t="t" l="l"/>
              <a:pathLst>
                <a:path h="20774" w="2408296">
                  <a:moveTo>
                    <a:pt x="0" y="0"/>
                  </a:moveTo>
                  <a:lnTo>
                    <a:pt x="2408296" y="0"/>
                  </a:lnTo>
                  <a:lnTo>
                    <a:pt x="2408296" y="20774"/>
                  </a:lnTo>
                  <a:lnTo>
                    <a:pt x="0" y="20774"/>
                  </a:lnTo>
                  <a:close/>
                </a:path>
              </a:pathLst>
            </a:custGeom>
            <a:solidFill>
              <a:srgbClr val="052E25"/>
            </a:solidFill>
          </p:spPr>
        </p:sp>
        <p:sp>
          <p:nvSpPr>
            <p:cNvPr name="TextBox 7" id="7"/>
            <p:cNvSpPr txBox="true"/>
            <p:nvPr/>
          </p:nvSpPr>
          <p:spPr>
            <a:xfrm>
              <a:off x="0" y="-57150"/>
              <a:ext cx="2408296" cy="77924"/>
            </a:xfrm>
            <a:prstGeom prst="rect">
              <a:avLst/>
            </a:prstGeom>
          </p:spPr>
          <p:txBody>
            <a:bodyPr anchor="ctr" rtlCol="false" tIns="50800" lIns="50800" bIns="50800" rIns="50800"/>
            <a:lstStyle/>
            <a:p>
              <a:pPr algn="ctr">
                <a:lnSpc>
                  <a:spcPts val="3407"/>
                </a:lnSpc>
              </a:pPr>
            </a:p>
          </p:txBody>
        </p:sp>
      </p:grpSp>
      <p:sp>
        <p:nvSpPr>
          <p:cNvPr name="Freeform 8" id="8"/>
          <p:cNvSpPr/>
          <p:nvPr/>
        </p:nvSpPr>
        <p:spPr>
          <a:xfrm flipH="false" flipV="false" rot="0">
            <a:off x="4693822" y="1720215"/>
            <a:ext cx="10451121" cy="7851405"/>
          </a:xfrm>
          <a:custGeom>
            <a:avLst/>
            <a:gdLst/>
            <a:ahLst/>
            <a:cxnLst/>
            <a:rect r="r" b="b" t="t" l="l"/>
            <a:pathLst>
              <a:path h="7851405" w="10451121">
                <a:moveTo>
                  <a:pt x="0" y="0"/>
                </a:moveTo>
                <a:lnTo>
                  <a:pt x="10451121" y="0"/>
                </a:lnTo>
                <a:lnTo>
                  <a:pt x="10451121" y="7851405"/>
                </a:lnTo>
                <a:lnTo>
                  <a:pt x="0" y="7851405"/>
                </a:lnTo>
                <a:lnTo>
                  <a:pt x="0" y="0"/>
                </a:lnTo>
                <a:close/>
              </a:path>
            </a:pathLst>
          </a:custGeom>
          <a:blipFill>
            <a:blip r:embed="rId2"/>
            <a:stretch>
              <a:fillRect l="0" t="0" r="0" b="0"/>
            </a:stretch>
          </a:blipFill>
        </p:spPr>
      </p:sp>
      <p:sp>
        <p:nvSpPr>
          <p:cNvPr name="TextBox 9" id="9"/>
          <p:cNvSpPr txBox="true"/>
          <p:nvPr/>
        </p:nvSpPr>
        <p:spPr>
          <a:xfrm rot="0">
            <a:off x="636436" y="1929447"/>
            <a:ext cx="3351123" cy="2082165"/>
          </a:xfrm>
          <a:prstGeom prst="rect">
            <a:avLst/>
          </a:prstGeom>
        </p:spPr>
        <p:txBody>
          <a:bodyPr anchor="t" rtlCol="false" tIns="0" lIns="0" bIns="0" rIns="0">
            <a:spAutoFit/>
          </a:bodyPr>
          <a:lstStyle/>
          <a:p>
            <a:pPr algn="l">
              <a:lnSpc>
                <a:spcPts val="3359"/>
              </a:lnSpc>
            </a:pPr>
            <a:r>
              <a:rPr lang="en-US" sz="2399" b="true">
                <a:solidFill>
                  <a:srgbClr val="031411"/>
                </a:solidFill>
                <a:latin typeface="Aileron Bold"/>
                <a:ea typeface="Aileron Bold"/>
                <a:cs typeface="Aileron Bold"/>
                <a:sym typeface="Aileron Bold"/>
              </a:rPr>
              <a:t>DESKRIPSI :</a:t>
            </a:r>
          </a:p>
          <a:p>
            <a:pPr algn="l">
              <a:lnSpc>
                <a:spcPts val="3359"/>
              </a:lnSpc>
              <a:spcBef>
                <a:spcPct val="0"/>
              </a:spcBef>
            </a:pPr>
            <a:r>
              <a:rPr lang="en-US" sz="2399">
                <a:solidFill>
                  <a:srgbClr val="031411"/>
                </a:solidFill>
                <a:latin typeface="Aileron"/>
                <a:ea typeface="Aileron"/>
                <a:cs typeface="Aileron"/>
                <a:sym typeface="Aileron"/>
              </a:rPr>
              <a:t>SISTEM TERLIHAT LEBIH JELAS DAN MEMILIKI DATA STORE YANG LEBIH BERAGAM.</a:t>
            </a:r>
          </a:p>
        </p:txBody>
      </p:sp>
      <p:sp>
        <p:nvSpPr>
          <p:cNvPr name="TextBox 10" id="10"/>
          <p:cNvSpPr txBox="true"/>
          <p:nvPr/>
        </p:nvSpPr>
        <p:spPr>
          <a:xfrm rot="0">
            <a:off x="7413077" y="633800"/>
            <a:ext cx="5012611" cy="1086415"/>
          </a:xfrm>
          <a:prstGeom prst="rect">
            <a:avLst/>
          </a:prstGeom>
        </p:spPr>
        <p:txBody>
          <a:bodyPr anchor="t" rtlCol="false" tIns="0" lIns="0" bIns="0" rIns="0">
            <a:spAutoFit/>
          </a:bodyPr>
          <a:lstStyle/>
          <a:p>
            <a:pPr algn="l">
              <a:lnSpc>
                <a:spcPts val="8893"/>
              </a:lnSpc>
              <a:spcBef>
                <a:spcPct val="0"/>
              </a:spcBef>
            </a:pPr>
            <a:r>
              <a:rPr lang="en-US" b="true" sz="6352">
                <a:solidFill>
                  <a:srgbClr val="052E25"/>
                </a:solidFill>
                <a:latin typeface="Aileron Bold"/>
                <a:ea typeface="Aileron Bold"/>
                <a:cs typeface="Aileron Bold"/>
                <a:sym typeface="Aileron Bold"/>
              </a:rPr>
              <a:t>DFD </a:t>
            </a:r>
            <a:r>
              <a:rPr lang="en-US" b="true" sz="6352">
                <a:solidFill>
                  <a:srgbClr val="FFFFFF"/>
                </a:solidFill>
                <a:latin typeface="Aileron Bold"/>
                <a:ea typeface="Aileron Bold"/>
                <a:cs typeface="Aileron Bold"/>
                <a:sym typeface="Aileron Bold"/>
              </a:rPr>
              <a:t>LEVEL 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52E25"/>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407"/>
                </a:lnSpc>
              </a:pPr>
            </a:p>
          </p:txBody>
        </p:sp>
      </p:grpSp>
      <p:grpSp>
        <p:nvGrpSpPr>
          <p:cNvPr name="Group 5" id="5"/>
          <p:cNvGrpSpPr/>
          <p:nvPr/>
        </p:nvGrpSpPr>
        <p:grpSpPr>
          <a:xfrm rot="0">
            <a:off x="0" y="10208125"/>
            <a:ext cx="9144000" cy="78875"/>
            <a:chOff x="0" y="0"/>
            <a:chExt cx="2408296" cy="20774"/>
          </a:xfrm>
        </p:grpSpPr>
        <p:sp>
          <p:nvSpPr>
            <p:cNvPr name="Freeform 6" id="6"/>
            <p:cNvSpPr/>
            <p:nvPr/>
          </p:nvSpPr>
          <p:spPr>
            <a:xfrm flipH="false" flipV="false" rot="0">
              <a:off x="0" y="0"/>
              <a:ext cx="2408296" cy="20774"/>
            </a:xfrm>
            <a:custGeom>
              <a:avLst/>
              <a:gdLst/>
              <a:ahLst/>
              <a:cxnLst/>
              <a:rect r="r" b="b" t="t" l="l"/>
              <a:pathLst>
                <a:path h="20774" w="2408296">
                  <a:moveTo>
                    <a:pt x="0" y="0"/>
                  </a:moveTo>
                  <a:lnTo>
                    <a:pt x="2408296" y="0"/>
                  </a:lnTo>
                  <a:lnTo>
                    <a:pt x="2408296" y="20774"/>
                  </a:lnTo>
                  <a:lnTo>
                    <a:pt x="0" y="20774"/>
                  </a:lnTo>
                  <a:close/>
                </a:path>
              </a:pathLst>
            </a:custGeom>
            <a:solidFill>
              <a:srgbClr val="052E25"/>
            </a:solidFill>
          </p:spPr>
        </p:sp>
        <p:sp>
          <p:nvSpPr>
            <p:cNvPr name="TextBox 7" id="7"/>
            <p:cNvSpPr txBox="true"/>
            <p:nvPr/>
          </p:nvSpPr>
          <p:spPr>
            <a:xfrm>
              <a:off x="0" y="-57150"/>
              <a:ext cx="2408296" cy="77924"/>
            </a:xfrm>
            <a:prstGeom prst="rect">
              <a:avLst/>
            </a:prstGeom>
          </p:spPr>
          <p:txBody>
            <a:bodyPr anchor="ctr" rtlCol="false" tIns="50800" lIns="50800" bIns="50800" rIns="50800"/>
            <a:lstStyle/>
            <a:p>
              <a:pPr algn="ctr">
                <a:lnSpc>
                  <a:spcPts val="3407"/>
                </a:lnSpc>
              </a:pPr>
            </a:p>
          </p:txBody>
        </p:sp>
      </p:grpSp>
      <p:sp>
        <p:nvSpPr>
          <p:cNvPr name="Freeform 8" id="8"/>
          <p:cNvSpPr/>
          <p:nvPr/>
        </p:nvSpPr>
        <p:spPr>
          <a:xfrm flipH="false" flipV="false" rot="0">
            <a:off x="9738708" y="3254504"/>
            <a:ext cx="7627942" cy="6588635"/>
          </a:xfrm>
          <a:custGeom>
            <a:avLst/>
            <a:gdLst/>
            <a:ahLst/>
            <a:cxnLst/>
            <a:rect r="r" b="b" t="t" l="l"/>
            <a:pathLst>
              <a:path h="6588635" w="7627942">
                <a:moveTo>
                  <a:pt x="0" y="0"/>
                </a:moveTo>
                <a:lnTo>
                  <a:pt x="7627942" y="0"/>
                </a:lnTo>
                <a:lnTo>
                  <a:pt x="7627942" y="6588634"/>
                </a:lnTo>
                <a:lnTo>
                  <a:pt x="0" y="6588634"/>
                </a:lnTo>
                <a:lnTo>
                  <a:pt x="0" y="0"/>
                </a:lnTo>
                <a:close/>
              </a:path>
            </a:pathLst>
          </a:custGeom>
          <a:blipFill>
            <a:blip r:embed="rId2"/>
            <a:stretch>
              <a:fillRect l="0" t="0" r="0" b="0"/>
            </a:stretch>
          </a:blipFill>
        </p:spPr>
      </p:sp>
      <p:sp>
        <p:nvSpPr>
          <p:cNvPr name="Freeform 9" id="9"/>
          <p:cNvSpPr/>
          <p:nvPr/>
        </p:nvSpPr>
        <p:spPr>
          <a:xfrm flipH="false" flipV="false" rot="0">
            <a:off x="449020" y="888896"/>
            <a:ext cx="8245959" cy="5465544"/>
          </a:xfrm>
          <a:custGeom>
            <a:avLst/>
            <a:gdLst/>
            <a:ahLst/>
            <a:cxnLst/>
            <a:rect r="r" b="b" t="t" l="l"/>
            <a:pathLst>
              <a:path h="5465544" w="8245959">
                <a:moveTo>
                  <a:pt x="0" y="0"/>
                </a:moveTo>
                <a:lnTo>
                  <a:pt x="8245960" y="0"/>
                </a:lnTo>
                <a:lnTo>
                  <a:pt x="8245960" y="5465545"/>
                </a:lnTo>
                <a:lnTo>
                  <a:pt x="0" y="5465545"/>
                </a:lnTo>
                <a:lnTo>
                  <a:pt x="0" y="0"/>
                </a:lnTo>
                <a:close/>
              </a:path>
            </a:pathLst>
          </a:custGeom>
          <a:blipFill>
            <a:blip r:embed="rId3"/>
            <a:stretch>
              <a:fillRect l="0" t="0" r="0" b="-20697"/>
            </a:stretch>
          </a:blipFill>
        </p:spPr>
      </p:sp>
      <p:sp>
        <p:nvSpPr>
          <p:cNvPr name="TextBox 10" id="10"/>
          <p:cNvSpPr txBox="true"/>
          <p:nvPr/>
        </p:nvSpPr>
        <p:spPr>
          <a:xfrm rot="0">
            <a:off x="9738708" y="904875"/>
            <a:ext cx="8204023" cy="2181174"/>
          </a:xfrm>
          <a:prstGeom prst="rect">
            <a:avLst/>
          </a:prstGeom>
        </p:spPr>
        <p:txBody>
          <a:bodyPr anchor="t" rtlCol="false" tIns="0" lIns="0" bIns="0" rIns="0">
            <a:spAutoFit/>
          </a:bodyPr>
          <a:lstStyle/>
          <a:p>
            <a:pPr algn="l">
              <a:lnSpc>
                <a:spcPts val="8893"/>
              </a:lnSpc>
              <a:spcBef>
                <a:spcPct val="0"/>
              </a:spcBef>
            </a:pPr>
            <a:r>
              <a:rPr lang="en-US" b="true" sz="6352">
                <a:solidFill>
                  <a:srgbClr val="FFFDF8"/>
                </a:solidFill>
                <a:latin typeface="Aileron Bold"/>
                <a:ea typeface="Aileron Bold"/>
                <a:cs typeface="Aileron Bold"/>
                <a:sym typeface="Aileron Bold"/>
              </a:rPr>
              <a:t>DASHBORD MAHASISWA</a:t>
            </a:r>
          </a:p>
        </p:txBody>
      </p:sp>
      <p:sp>
        <p:nvSpPr>
          <p:cNvPr name="TextBox 11" id="11"/>
          <p:cNvSpPr txBox="true"/>
          <p:nvPr/>
        </p:nvSpPr>
        <p:spPr>
          <a:xfrm rot="0">
            <a:off x="586629" y="7057654"/>
            <a:ext cx="8245959" cy="1071819"/>
          </a:xfrm>
          <a:prstGeom prst="rect">
            <a:avLst/>
          </a:prstGeom>
        </p:spPr>
        <p:txBody>
          <a:bodyPr anchor="t" rtlCol="false" tIns="0" lIns="0" bIns="0" rIns="0">
            <a:spAutoFit/>
          </a:bodyPr>
          <a:lstStyle/>
          <a:p>
            <a:pPr algn="l">
              <a:lnSpc>
                <a:spcPts val="8893"/>
              </a:lnSpc>
              <a:spcBef>
                <a:spcPct val="0"/>
              </a:spcBef>
            </a:pPr>
            <a:r>
              <a:rPr lang="en-US" b="true" sz="6352">
                <a:solidFill>
                  <a:srgbClr val="031411"/>
                </a:solidFill>
                <a:latin typeface="Aileron Bold"/>
                <a:ea typeface="Aileron Bold"/>
                <a:cs typeface="Aileron Bold"/>
                <a:sym typeface="Aileron Bold"/>
              </a:rPr>
              <a:t>HALAMAN LOGIN</a:t>
            </a:r>
          </a:p>
        </p:txBody>
      </p:sp>
      <p:sp>
        <p:nvSpPr>
          <p:cNvPr name="TextBox 12" id="12"/>
          <p:cNvSpPr txBox="true"/>
          <p:nvPr/>
        </p:nvSpPr>
        <p:spPr>
          <a:xfrm rot="0">
            <a:off x="-228756" y="9624698"/>
            <a:ext cx="1927083" cy="389255"/>
          </a:xfrm>
          <a:prstGeom prst="rect">
            <a:avLst/>
          </a:prstGeom>
        </p:spPr>
        <p:txBody>
          <a:bodyPr anchor="t" rtlCol="false" tIns="0" lIns="0" bIns="0" rIns="0">
            <a:spAutoFit/>
          </a:bodyPr>
          <a:lstStyle/>
          <a:p>
            <a:pPr algn="r">
              <a:lnSpc>
                <a:spcPts val="3220"/>
              </a:lnSpc>
              <a:spcBef>
                <a:spcPct val="0"/>
              </a:spcBef>
            </a:pPr>
            <a:r>
              <a:rPr lang="en-US" sz="2300">
                <a:solidFill>
                  <a:srgbClr val="052E25"/>
                </a:solidFill>
                <a:latin typeface="Aileron"/>
                <a:ea typeface="Aileron"/>
                <a:cs typeface="Aileron"/>
                <a:sym typeface="Aileron"/>
              </a:rPr>
              <a:t>BELUM FIX</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52E25"/>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407"/>
                </a:lnSpc>
              </a:pPr>
            </a:p>
          </p:txBody>
        </p:sp>
      </p:grpSp>
      <p:grpSp>
        <p:nvGrpSpPr>
          <p:cNvPr name="Group 5" id="5"/>
          <p:cNvGrpSpPr/>
          <p:nvPr/>
        </p:nvGrpSpPr>
        <p:grpSpPr>
          <a:xfrm rot="0">
            <a:off x="0" y="10208125"/>
            <a:ext cx="9144000" cy="78875"/>
            <a:chOff x="0" y="0"/>
            <a:chExt cx="2408296" cy="20774"/>
          </a:xfrm>
        </p:grpSpPr>
        <p:sp>
          <p:nvSpPr>
            <p:cNvPr name="Freeform 6" id="6"/>
            <p:cNvSpPr/>
            <p:nvPr/>
          </p:nvSpPr>
          <p:spPr>
            <a:xfrm flipH="false" flipV="false" rot="0">
              <a:off x="0" y="0"/>
              <a:ext cx="2408296" cy="20774"/>
            </a:xfrm>
            <a:custGeom>
              <a:avLst/>
              <a:gdLst/>
              <a:ahLst/>
              <a:cxnLst/>
              <a:rect r="r" b="b" t="t" l="l"/>
              <a:pathLst>
                <a:path h="20774" w="2408296">
                  <a:moveTo>
                    <a:pt x="0" y="0"/>
                  </a:moveTo>
                  <a:lnTo>
                    <a:pt x="2408296" y="0"/>
                  </a:lnTo>
                  <a:lnTo>
                    <a:pt x="2408296" y="20774"/>
                  </a:lnTo>
                  <a:lnTo>
                    <a:pt x="0" y="20774"/>
                  </a:lnTo>
                  <a:close/>
                </a:path>
              </a:pathLst>
            </a:custGeom>
            <a:solidFill>
              <a:srgbClr val="052E25"/>
            </a:solidFill>
          </p:spPr>
        </p:sp>
        <p:sp>
          <p:nvSpPr>
            <p:cNvPr name="TextBox 7" id="7"/>
            <p:cNvSpPr txBox="true"/>
            <p:nvPr/>
          </p:nvSpPr>
          <p:spPr>
            <a:xfrm>
              <a:off x="0" y="-57150"/>
              <a:ext cx="2408296" cy="77924"/>
            </a:xfrm>
            <a:prstGeom prst="rect">
              <a:avLst/>
            </a:prstGeom>
          </p:spPr>
          <p:txBody>
            <a:bodyPr anchor="ctr" rtlCol="false" tIns="50800" lIns="50800" bIns="50800" rIns="50800"/>
            <a:lstStyle/>
            <a:p>
              <a:pPr algn="ctr">
                <a:lnSpc>
                  <a:spcPts val="3407"/>
                </a:lnSpc>
              </a:pPr>
            </a:p>
          </p:txBody>
        </p:sp>
      </p:grpSp>
      <p:sp>
        <p:nvSpPr>
          <p:cNvPr name="Freeform 8" id="8"/>
          <p:cNvSpPr/>
          <p:nvPr/>
        </p:nvSpPr>
        <p:spPr>
          <a:xfrm flipH="false" flipV="false" rot="0">
            <a:off x="4717528" y="892218"/>
            <a:ext cx="9697541" cy="8242910"/>
          </a:xfrm>
          <a:custGeom>
            <a:avLst/>
            <a:gdLst/>
            <a:ahLst/>
            <a:cxnLst/>
            <a:rect r="r" b="b" t="t" l="l"/>
            <a:pathLst>
              <a:path h="8242910" w="9697541">
                <a:moveTo>
                  <a:pt x="0" y="0"/>
                </a:moveTo>
                <a:lnTo>
                  <a:pt x="9697541" y="0"/>
                </a:lnTo>
                <a:lnTo>
                  <a:pt x="9697541" y="8242910"/>
                </a:lnTo>
                <a:lnTo>
                  <a:pt x="0" y="8242910"/>
                </a:lnTo>
                <a:lnTo>
                  <a:pt x="0" y="0"/>
                </a:lnTo>
                <a:close/>
              </a:path>
            </a:pathLst>
          </a:custGeom>
          <a:blipFill>
            <a:blip r:embed="rId2"/>
            <a:stretch>
              <a:fillRect l="0" t="0" r="0" b="0"/>
            </a:stretch>
          </a:blipFill>
        </p:spPr>
      </p:sp>
      <p:sp>
        <p:nvSpPr>
          <p:cNvPr name="TextBox 9" id="9"/>
          <p:cNvSpPr txBox="true"/>
          <p:nvPr/>
        </p:nvSpPr>
        <p:spPr>
          <a:xfrm rot="0">
            <a:off x="178551" y="1631524"/>
            <a:ext cx="4767545" cy="1854764"/>
          </a:xfrm>
          <a:prstGeom prst="rect">
            <a:avLst/>
          </a:prstGeom>
        </p:spPr>
        <p:txBody>
          <a:bodyPr anchor="t" rtlCol="false" tIns="0" lIns="0" bIns="0" rIns="0">
            <a:spAutoFit/>
          </a:bodyPr>
          <a:lstStyle/>
          <a:p>
            <a:pPr algn="l">
              <a:lnSpc>
                <a:spcPts val="7493"/>
              </a:lnSpc>
              <a:spcBef>
                <a:spcPct val="0"/>
              </a:spcBef>
            </a:pPr>
            <a:r>
              <a:rPr lang="en-US" b="true" sz="5352">
                <a:solidFill>
                  <a:srgbClr val="052E25"/>
                </a:solidFill>
                <a:latin typeface="Aileron Bold"/>
                <a:ea typeface="Aileron Bold"/>
                <a:cs typeface="Aileron Bold"/>
                <a:sym typeface="Aileron Bold"/>
              </a:rPr>
              <a:t>DASHBOARD DOSEN</a:t>
            </a:r>
          </a:p>
        </p:txBody>
      </p:sp>
      <p:sp>
        <p:nvSpPr>
          <p:cNvPr name="TextBox 10" id="10"/>
          <p:cNvSpPr txBox="true"/>
          <p:nvPr/>
        </p:nvSpPr>
        <p:spPr>
          <a:xfrm rot="0">
            <a:off x="-316930" y="9683481"/>
            <a:ext cx="1927083" cy="389255"/>
          </a:xfrm>
          <a:prstGeom prst="rect">
            <a:avLst/>
          </a:prstGeom>
        </p:spPr>
        <p:txBody>
          <a:bodyPr anchor="t" rtlCol="false" tIns="0" lIns="0" bIns="0" rIns="0">
            <a:spAutoFit/>
          </a:bodyPr>
          <a:lstStyle/>
          <a:p>
            <a:pPr algn="r">
              <a:lnSpc>
                <a:spcPts val="3220"/>
              </a:lnSpc>
              <a:spcBef>
                <a:spcPct val="0"/>
              </a:spcBef>
            </a:pPr>
            <a:r>
              <a:rPr lang="en-US" sz="2300">
                <a:solidFill>
                  <a:srgbClr val="052E25"/>
                </a:solidFill>
                <a:latin typeface="Aileron"/>
                <a:ea typeface="Aileron"/>
                <a:cs typeface="Aileron"/>
                <a:sym typeface="Aileron"/>
              </a:rPr>
              <a:t>BELUM FIX</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052E25"/>
            </a:solidFill>
          </p:spPr>
        </p:sp>
        <p:sp>
          <p:nvSpPr>
            <p:cNvPr name="TextBox 4" id="4"/>
            <p:cNvSpPr txBox="true"/>
            <p:nvPr/>
          </p:nvSpPr>
          <p:spPr>
            <a:xfrm>
              <a:off x="0" y="-57150"/>
              <a:ext cx="2408296" cy="2766483"/>
            </a:xfrm>
            <a:prstGeom prst="rect">
              <a:avLst/>
            </a:prstGeom>
          </p:spPr>
          <p:txBody>
            <a:bodyPr anchor="ctr" rtlCol="false" tIns="50800" lIns="50800" bIns="50800" rIns="50800"/>
            <a:lstStyle/>
            <a:p>
              <a:pPr algn="ctr">
                <a:lnSpc>
                  <a:spcPts val="3407"/>
                </a:lnSpc>
              </a:pPr>
            </a:p>
          </p:txBody>
        </p:sp>
      </p:grpSp>
      <p:grpSp>
        <p:nvGrpSpPr>
          <p:cNvPr name="Group 5" id="5"/>
          <p:cNvGrpSpPr/>
          <p:nvPr/>
        </p:nvGrpSpPr>
        <p:grpSpPr>
          <a:xfrm rot="0">
            <a:off x="0" y="10208125"/>
            <a:ext cx="9144000" cy="78875"/>
            <a:chOff x="0" y="0"/>
            <a:chExt cx="2408296" cy="20774"/>
          </a:xfrm>
        </p:grpSpPr>
        <p:sp>
          <p:nvSpPr>
            <p:cNvPr name="Freeform 6" id="6"/>
            <p:cNvSpPr/>
            <p:nvPr/>
          </p:nvSpPr>
          <p:spPr>
            <a:xfrm flipH="false" flipV="false" rot="0">
              <a:off x="0" y="0"/>
              <a:ext cx="2408296" cy="20774"/>
            </a:xfrm>
            <a:custGeom>
              <a:avLst/>
              <a:gdLst/>
              <a:ahLst/>
              <a:cxnLst/>
              <a:rect r="r" b="b" t="t" l="l"/>
              <a:pathLst>
                <a:path h="20774" w="2408296">
                  <a:moveTo>
                    <a:pt x="0" y="0"/>
                  </a:moveTo>
                  <a:lnTo>
                    <a:pt x="2408296" y="0"/>
                  </a:lnTo>
                  <a:lnTo>
                    <a:pt x="2408296" y="20774"/>
                  </a:lnTo>
                  <a:lnTo>
                    <a:pt x="0" y="20774"/>
                  </a:lnTo>
                  <a:close/>
                </a:path>
              </a:pathLst>
            </a:custGeom>
            <a:solidFill>
              <a:srgbClr val="052E25"/>
            </a:solidFill>
          </p:spPr>
        </p:sp>
        <p:sp>
          <p:nvSpPr>
            <p:cNvPr name="TextBox 7" id="7"/>
            <p:cNvSpPr txBox="true"/>
            <p:nvPr/>
          </p:nvSpPr>
          <p:spPr>
            <a:xfrm>
              <a:off x="0" y="-57150"/>
              <a:ext cx="2408296" cy="77924"/>
            </a:xfrm>
            <a:prstGeom prst="rect">
              <a:avLst/>
            </a:prstGeom>
          </p:spPr>
          <p:txBody>
            <a:bodyPr anchor="ctr" rtlCol="false" tIns="50800" lIns="50800" bIns="50800" rIns="50800"/>
            <a:lstStyle/>
            <a:p>
              <a:pPr algn="ctr">
                <a:lnSpc>
                  <a:spcPts val="3407"/>
                </a:lnSpc>
              </a:pPr>
            </a:p>
          </p:txBody>
        </p:sp>
      </p:grpSp>
      <p:sp>
        <p:nvSpPr>
          <p:cNvPr name="Freeform 8" id="8"/>
          <p:cNvSpPr/>
          <p:nvPr/>
        </p:nvSpPr>
        <p:spPr>
          <a:xfrm flipH="false" flipV="false" rot="0">
            <a:off x="4123505" y="1225508"/>
            <a:ext cx="10040990" cy="8032792"/>
          </a:xfrm>
          <a:custGeom>
            <a:avLst/>
            <a:gdLst/>
            <a:ahLst/>
            <a:cxnLst/>
            <a:rect r="r" b="b" t="t" l="l"/>
            <a:pathLst>
              <a:path h="8032792" w="10040990">
                <a:moveTo>
                  <a:pt x="0" y="0"/>
                </a:moveTo>
                <a:lnTo>
                  <a:pt x="10040990" y="0"/>
                </a:lnTo>
                <a:lnTo>
                  <a:pt x="10040990" y="8032792"/>
                </a:lnTo>
                <a:lnTo>
                  <a:pt x="0" y="8032792"/>
                </a:lnTo>
                <a:lnTo>
                  <a:pt x="0" y="0"/>
                </a:lnTo>
                <a:close/>
              </a:path>
            </a:pathLst>
          </a:custGeom>
          <a:blipFill>
            <a:blip r:embed="rId2"/>
            <a:stretch>
              <a:fillRect l="0" t="0" r="0" b="0"/>
            </a:stretch>
          </a:blipFill>
        </p:spPr>
      </p:sp>
      <p:sp>
        <p:nvSpPr>
          <p:cNvPr name="TextBox 9" id="9"/>
          <p:cNvSpPr txBox="true"/>
          <p:nvPr/>
        </p:nvSpPr>
        <p:spPr>
          <a:xfrm rot="0">
            <a:off x="528078" y="1614048"/>
            <a:ext cx="4767545" cy="1854764"/>
          </a:xfrm>
          <a:prstGeom prst="rect">
            <a:avLst/>
          </a:prstGeom>
        </p:spPr>
        <p:txBody>
          <a:bodyPr anchor="t" rtlCol="false" tIns="0" lIns="0" bIns="0" rIns="0">
            <a:spAutoFit/>
          </a:bodyPr>
          <a:lstStyle/>
          <a:p>
            <a:pPr algn="l">
              <a:lnSpc>
                <a:spcPts val="7493"/>
              </a:lnSpc>
            </a:pPr>
            <a:r>
              <a:rPr lang="en-US" sz="5352" b="true">
                <a:solidFill>
                  <a:srgbClr val="052E25"/>
                </a:solidFill>
                <a:latin typeface="Aileron Bold"/>
                <a:ea typeface="Aileron Bold"/>
                <a:cs typeface="Aileron Bold"/>
                <a:sym typeface="Aileron Bold"/>
              </a:rPr>
              <a:t>FITUR</a:t>
            </a:r>
          </a:p>
          <a:p>
            <a:pPr algn="l">
              <a:lnSpc>
                <a:spcPts val="7493"/>
              </a:lnSpc>
              <a:spcBef>
                <a:spcPct val="0"/>
              </a:spcBef>
            </a:pPr>
            <a:r>
              <a:rPr lang="en-US" b="true" sz="5352">
                <a:solidFill>
                  <a:srgbClr val="052E25"/>
                </a:solidFill>
                <a:latin typeface="Aileron Bold"/>
                <a:ea typeface="Aileron Bold"/>
                <a:cs typeface="Aileron Bold"/>
                <a:sym typeface="Aileron Bold"/>
              </a:rPr>
              <a:t>UTAMA</a:t>
            </a:r>
          </a:p>
        </p:txBody>
      </p:sp>
      <p:sp>
        <p:nvSpPr>
          <p:cNvPr name="TextBox 10" id="10"/>
          <p:cNvSpPr txBox="true"/>
          <p:nvPr/>
        </p:nvSpPr>
        <p:spPr>
          <a:xfrm rot="0">
            <a:off x="-316930" y="9683481"/>
            <a:ext cx="1927083" cy="389255"/>
          </a:xfrm>
          <a:prstGeom prst="rect">
            <a:avLst/>
          </a:prstGeom>
        </p:spPr>
        <p:txBody>
          <a:bodyPr anchor="t" rtlCol="false" tIns="0" lIns="0" bIns="0" rIns="0">
            <a:spAutoFit/>
          </a:bodyPr>
          <a:lstStyle/>
          <a:p>
            <a:pPr algn="r">
              <a:lnSpc>
                <a:spcPts val="3220"/>
              </a:lnSpc>
              <a:spcBef>
                <a:spcPct val="0"/>
              </a:spcBef>
            </a:pPr>
            <a:r>
              <a:rPr lang="en-US" sz="2300">
                <a:solidFill>
                  <a:srgbClr val="052E25"/>
                </a:solidFill>
                <a:latin typeface="Aileron"/>
                <a:ea typeface="Aileron"/>
                <a:cs typeface="Aileron"/>
                <a:sym typeface="Aileron"/>
              </a:rPr>
              <a:t>BELUM FIX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2E25"/>
        </a:solidFill>
      </p:bgPr>
    </p:bg>
    <p:spTree>
      <p:nvGrpSpPr>
        <p:cNvPr id="1" name=""/>
        <p:cNvGrpSpPr/>
        <p:nvPr/>
      </p:nvGrpSpPr>
      <p:grpSpPr>
        <a:xfrm>
          <a:off x="0" y="0"/>
          <a:ext cx="0" cy="0"/>
          <a:chOff x="0" y="0"/>
          <a:chExt cx="0" cy="0"/>
        </a:xfrm>
      </p:grpSpPr>
      <p:sp>
        <p:nvSpPr>
          <p:cNvPr name="Freeform 2" id="2"/>
          <p:cNvSpPr/>
          <p:nvPr/>
        </p:nvSpPr>
        <p:spPr>
          <a:xfrm flipH="false" flipV="false" rot="0">
            <a:off x="0" y="-4046450"/>
            <a:ext cx="18288000" cy="18379899"/>
          </a:xfrm>
          <a:custGeom>
            <a:avLst/>
            <a:gdLst/>
            <a:ahLst/>
            <a:cxnLst/>
            <a:rect r="r" b="b" t="t" l="l"/>
            <a:pathLst>
              <a:path h="18379899" w="18288000">
                <a:moveTo>
                  <a:pt x="0" y="0"/>
                </a:moveTo>
                <a:lnTo>
                  <a:pt x="18288000" y="0"/>
                </a:lnTo>
                <a:lnTo>
                  <a:pt x="18288000" y="18379900"/>
                </a:lnTo>
                <a:lnTo>
                  <a:pt x="0" y="18379900"/>
                </a:lnTo>
                <a:lnTo>
                  <a:pt x="0" y="0"/>
                </a:lnTo>
                <a:close/>
              </a:path>
            </a:pathLst>
          </a:custGeom>
          <a:blipFill>
            <a:blip r:embed="rId2">
              <a:alphaModFix amt="4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86775" y="3281655"/>
            <a:ext cx="10114449" cy="4218165"/>
          </a:xfrm>
          <a:prstGeom prst="rect">
            <a:avLst/>
          </a:prstGeom>
        </p:spPr>
        <p:txBody>
          <a:bodyPr anchor="t" rtlCol="false" tIns="0" lIns="0" bIns="0" rIns="0">
            <a:spAutoFit/>
          </a:bodyPr>
          <a:lstStyle/>
          <a:p>
            <a:pPr algn="ctr">
              <a:lnSpc>
                <a:spcPts val="34671"/>
              </a:lnSpc>
              <a:spcBef>
                <a:spcPct val="0"/>
              </a:spcBef>
            </a:pPr>
            <a:r>
              <a:rPr lang="en-US" sz="24765">
                <a:solidFill>
                  <a:srgbClr val="FFFDF8"/>
                </a:solidFill>
                <a:latin typeface="Aileron"/>
                <a:ea typeface="Aileron"/>
                <a:cs typeface="Aileron"/>
                <a:sym typeface="Aileron"/>
              </a:rPr>
              <a:t>KASIH</a:t>
            </a:r>
          </a:p>
        </p:txBody>
      </p:sp>
      <p:sp>
        <p:nvSpPr>
          <p:cNvPr name="TextBox 4" id="4"/>
          <p:cNvSpPr txBox="true"/>
          <p:nvPr/>
        </p:nvSpPr>
        <p:spPr>
          <a:xfrm rot="0">
            <a:off x="4375690" y="884555"/>
            <a:ext cx="9536620" cy="4353075"/>
          </a:xfrm>
          <a:prstGeom prst="rect">
            <a:avLst/>
          </a:prstGeom>
        </p:spPr>
        <p:txBody>
          <a:bodyPr anchor="t" rtlCol="false" tIns="0" lIns="0" bIns="0" rIns="0">
            <a:spAutoFit/>
          </a:bodyPr>
          <a:lstStyle/>
          <a:p>
            <a:pPr algn="ctr">
              <a:lnSpc>
                <a:spcPts val="35575"/>
              </a:lnSpc>
              <a:spcBef>
                <a:spcPct val="0"/>
              </a:spcBef>
            </a:pPr>
            <a:r>
              <a:rPr lang="en-US" sz="25410">
                <a:solidFill>
                  <a:srgbClr val="FFFDF8"/>
                </a:solidFill>
                <a:latin typeface="Pinyon Script"/>
                <a:ea typeface="Pinyon Script"/>
                <a:cs typeface="Pinyon Script"/>
                <a:sym typeface="Pinyon Script"/>
              </a:rPr>
              <a:t>Terima</a:t>
            </a:r>
          </a:p>
        </p:txBody>
      </p:sp>
      <p:sp>
        <p:nvSpPr>
          <p:cNvPr name="TextBox 5" id="5"/>
          <p:cNvSpPr txBox="true"/>
          <p:nvPr/>
        </p:nvSpPr>
        <p:spPr>
          <a:xfrm rot="0">
            <a:off x="1028700" y="981075"/>
            <a:ext cx="2633343" cy="389255"/>
          </a:xfrm>
          <a:prstGeom prst="rect">
            <a:avLst/>
          </a:prstGeom>
        </p:spPr>
        <p:txBody>
          <a:bodyPr anchor="t" rtlCol="false" tIns="0" lIns="0" bIns="0" rIns="0">
            <a:spAutoFit/>
          </a:bodyPr>
          <a:lstStyle/>
          <a:p>
            <a:pPr algn="l">
              <a:lnSpc>
                <a:spcPts val="3220"/>
              </a:lnSpc>
              <a:spcBef>
                <a:spcPct val="0"/>
              </a:spcBef>
            </a:pPr>
            <a:r>
              <a:rPr lang="en-US" sz="2300">
                <a:solidFill>
                  <a:srgbClr val="FFFDF8"/>
                </a:solidFill>
                <a:latin typeface="Aileron"/>
                <a:ea typeface="Aileron"/>
                <a:cs typeface="Aileron"/>
                <a:sym typeface="Aileron"/>
              </a:rPr>
              <a:t>PRESENTASI</a:t>
            </a:r>
          </a:p>
        </p:txBody>
      </p:sp>
      <p:sp>
        <p:nvSpPr>
          <p:cNvPr name="TextBox 6" id="6"/>
          <p:cNvSpPr txBox="true"/>
          <p:nvPr/>
        </p:nvSpPr>
        <p:spPr>
          <a:xfrm rot="0">
            <a:off x="13726638" y="981075"/>
            <a:ext cx="3532662" cy="389255"/>
          </a:xfrm>
          <a:prstGeom prst="rect">
            <a:avLst/>
          </a:prstGeom>
        </p:spPr>
        <p:txBody>
          <a:bodyPr anchor="t" rtlCol="false" tIns="0" lIns="0" bIns="0" rIns="0">
            <a:spAutoFit/>
          </a:bodyPr>
          <a:lstStyle/>
          <a:p>
            <a:pPr algn="r">
              <a:lnSpc>
                <a:spcPts val="3220"/>
              </a:lnSpc>
              <a:spcBef>
                <a:spcPct val="0"/>
              </a:spcBef>
            </a:pPr>
            <a:r>
              <a:rPr lang="en-US" sz="2300">
                <a:solidFill>
                  <a:srgbClr val="FFFDF8"/>
                </a:solidFill>
                <a:latin typeface="Aileron"/>
                <a:ea typeface="Aileron"/>
                <a:cs typeface="Aileron"/>
                <a:sym typeface="Aileron"/>
              </a:rPr>
              <a:t>KELOMPOK 8</a:t>
            </a:r>
          </a:p>
        </p:txBody>
      </p:sp>
      <p:sp>
        <p:nvSpPr>
          <p:cNvPr name="TextBox 7" id="7"/>
          <p:cNvSpPr txBox="true"/>
          <p:nvPr/>
        </p:nvSpPr>
        <p:spPr>
          <a:xfrm rot="0">
            <a:off x="1028700" y="8834341"/>
            <a:ext cx="6116151" cy="423960"/>
          </a:xfrm>
          <a:prstGeom prst="rect">
            <a:avLst/>
          </a:prstGeom>
        </p:spPr>
        <p:txBody>
          <a:bodyPr anchor="t" rtlCol="false" tIns="0" lIns="0" bIns="0" rIns="0">
            <a:spAutoFit/>
          </a:bodyPr>
          <a:lstStyle/>
          <a:p>
            <a:pPr algn="l">
              <a:lnSpc>
                <a:spcPts val="3407"/>
              </a:lnSpc>
              <a:spcBef>
                <a:spcPct val="0"/>
              </a:spcBef>
            </a:pPr>
            <a:r>
              <a:rPr lang="en-US" sz="2433">
                <a:solidFill>
                  <a:srgbClr val="FFFDF8"/>
                </a:solidFill>
                <a:latin typeface="Aileron"/>
                <a:ea typeface="Aileron"/>
                <a:cs typeface="Aileron"/>
                <a:sym typeface="Aileron"/>
              </a:rPr>
              <a:t>TELKOM UNIVERSITY</a:t>
            </a:r>
          </a:p>
        </p:txBody>
      </p:sp>
      <p:sp>
        <p:nvSpPr>
          <p:cNvPr name="TextBox 8" id="8"/>
          <p:cNvSpPr txBox="true"/>
          <p:nvPr/>
        </p:nvSpPr>
        <p:spPr>
          <a:xfrm rot="0">
            <a:off x="15861262" y="8843866"/>
            <a:ext cx="1398038" cy="389255"/>
          </a:xfrm>
          <a:prstGeom prst="rect">
            <a:avLst/>
          </a:prstGeom>
        </p:spPr>
        <p:txBody>
          <a:bodyPr anchor="t" rtlCol="false" tIns="0" lIns="0" bIns="0" rIns="0">
            <a:spAutoFit/>
          </a:bodyPr>
          <a:lstStyle/>
          <a:p>
            <a:pPr algn="r">
              <a:lnSpc>
                <a:spcPts val="3220"/>
              </a:lnSpc>
              <a:spcBef>
                <a:spcPct val="0"/>
              </a:spcBef>
            </a:pPr>
            <a:r>
              <a:rPr lang="en-US" sz="2300">
                <a:solidFill>
                  <a:srgbClr val="FFFDF8"/>
                </a:solidFill>
                <a:latin typeface="Aileron"/>
                <a:ea typeface="Aileron"/>
                <a:cs typeface="Aileron"/>
                <a:sym typeface="Aileron"/>
              </a:rPr>
              <a:t>2026</a:t>
            </a:r>
          </a:p>
        </p:txBody>
      </p:sp>
      <p:sp>
        <p:nvSpPr>
          <p:cNvPr name="AutoShape 9" id="9"/>
          <p:cNvSpPr/>
          <p:nvPr/>
        </p:nvSpPr>
        <p:spPr>
          <a:xfrm>
            <a:off x="6020628" y="9074895"/>
            <a:ext cx="9845039" cy="4763"/>
          </a:xfrm>
          <a:prstGeom prst="line">
            <a:avLst/>
          </a:prstGeom>
          <a:ln cap="flat" w="9525">
            <a:solidFill>
              <a:srgbClr val="FFFFFF"/>
            </a:solidFill>
            <a:prstDash val="solid"/>
            <a:headEnd type="none" len="sm" w="sm"/>
            <a:tailEnd type="none" len="sm" w="sm"/>
          </a:ln>
        </p:spPr>
      </p:sp>
      <p:sp>
        <p:nvSpPr>
          <p:cNvPr name="Freeform 10" id="10"/>
          <p:cNvSpPr/>
          <p:nvPr/>
        </p:nvSpPr>
        <p:spPr>
          <a:xfrm flipH="false" flipV="false" rot="0">
            <a:off x="3400614" y="5341868"/>
            <a:ext cx="797851" cy="797851"/>
          </a:xfrm>
          <a:custGeom>
            <a:avLst/>
            <a:gdLst/>
            <a:ahLst/>
            <a:cxnLst/>
            <a:rect r="r" b="b" t="t" l="l"/>
            <a:pathLst>
              <a:path h="797851" w="797851">
                <a:moveTo>
                  <a:pt x="0" y="0"/>
                </a:moveTo>
                <a:lnTo>
                  <a:pt x="797851" y="0"/>
                </a:lnTo>
                <a:lnTo>
                  <a:pt x="797851" y="797851"/>
                </a:lnTo>
                <a:lnTo>
                  <a:pt x="0" y="797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4085606" y="5341868"/>
            <a:ext cx="797851" cy="797851"/>
          </a:xfrm>
          <a:custGeom>
            <a:avLst/>
            <a:gdLst/>
            <a:ahLst/>
            <a:cxnLst/>
            <a:rect r="r" b="b" t="t" l="l"/>
            <a:pathLst>
              <a:path h="797851" w="797851">
                <a:moveTo>
                  <a:pt x="0" y="0"/>
                </a:moveTo>
                <a:lnTo>
                  <a:pt x="797851" y="0"/>
                </a:lnTo>
                <a:lnTo>
                  <a:pt x="797851" y="797851"/>
                </a:lnTo>
                <a:lnTo>
                  <a:pt x="0" y="797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DAHEHF2t4_U</dc:identifier>
  <dcterms:modified xsi:type="dcterms:W3CDTF">2011-08-01T06:04:30Z</dcterms:modified>
  <cp:revision>1</cp:revision>
  <dc:title>Hijau dan Putih Modern Klasik Desainer Grafis Online Portofolio</dc:title>
</cp:coreProperties>
</file>